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0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56310" y="1453540"/>
            <a:ext cx="3999865" cy="4448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76" y="1524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6452" y="3683507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3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0576" y="0"/>
            <a:ext cx="3008630" cy="6858000"/>
          </a:xfrm>
          <a:custGeom>
            <a:avLst/>
            <a:gdLst/>
            <a:ahLst/>
            <a:cxnLst/>
            <a:rect l="l" t="t" r="r" b="b"/>
            <a:pathLst>
              <a:path w="3008629" h="6858000">
                <a:moveTo>
                  <a:pt x="3008375" y="0"/>
                </a:moveTo>
                <a:lnTo>
                  <a:pt x="2043499" y="0"/>
                </a:lnTo>
                <a:lnTo>
                  <a:pt x="0" y="6858000"/>
                </a:lnTo>
                <a:lnTo>
                  <a:pt x="3008375" y="6858000"/>
                </a:lnTo>
                <a:lnTo>
                  <a:pt x="3008375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5858" y="0"/>
            <a:ext cx="2586355" cy="6858000"/>
          </a:xfrm>
          <a:custGeom>
            <a:avLst/>
            <a:gdLst/>
            <a:ahLst/>
            <a:cxnLst/>
            <a:rect l="l" t="t" r="r" b="b"/>
            <a:pathLst>
              <a:path w="2586354" h="6858000">
                <a:moveTo>
                  <a:pt x="2586142" y="0"/>
                </a:moveTo>
                <a:lnTo>
                  <a:pt x="0" y="0"/>
                </a:lnTo>
                <a:lnTo>
                  <a:pt x="1207430" y="6857999"/>
                </a:lnTo>
                <a:lnTo>
                  <a:pt x="2586142" y="6857999"/>
                </a:lnTo>
                <a:lnTo>
                  <a:pt x="2586142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3688" y="3048000"/>
            <a:ext cx="3258820" cy="3810000"/>
          </a:xfrm>
          <a:custGeom>
            <a:avLst/>
            <a:gdLst/>
            <a:ahLst/>
            <a:cxnLst/>
            <a:rect l="l" t="t" r="r" b="b"/>
            <a:pathLst>
              <a:path w="3258820" h="3810000">
                <a:moveTo>
                  <a:pt x="3258311" y="0"/>
                </a:moveTo>
                <a:lnTo>
                  <a:pt x="0" y="3809999"/>
                </a:lnTo>
                <a:lnTo>
                  <a:pt x="3258311" y="3809999"/>
                </a:lnTo>
                <a:lnTo>
                  <a:pt x="3258311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9312" y="0"/>
            <a:ext cx="2849880" cy="6858000"/>
          </a:xfrm>
          <a:custGeom>
            <a:avLst/>
            <a:gdLst/>
            <a:ahLst/>
            <a:cxnLst/>
            <a:rect l="l" t="t" r="r" b="b"/>
            <a:pathLst>
              <a:path w="2849879" h="6858000">
                <a:moveTo>
                  <a:pt x="2849639" y="0"/>
                </a:moveTo>
                <a:lnTo>
                  <a:pt x="0" y="0"/>
                </a:lnTo>
                <a:lnTo>
                  <a:pt x="2466226" y="6858000"/>
                </a:lnTo>
                <a:lnTo>
                  <a:pt x="2849639" y="6858000"/>
                </a:lnTo>
                <a:lnTo>
                  <a:pt x="2849639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9648" y="0"/>
            <a:ext cx="1289685" cy="6858000"/>
          </a:xfrm>
          <a:custGeom>
            <a:avLst/>
            <a:gdLst/>
            <a:ahLst/>
            <a:cxnLst/>
            <a:rect l="l" t="t" r="r" b="b"/>
            <a:pathLst>
              <a:path w="1289684" h="6858000">
                <a:moveTo>
                  <a:pt x="1289303" y="0"/>
                </a:moveTo>
                <a:lnTo>
                  <a:pt x="1017691" y="0"/>
                </a:lnTo>
                <a:lnTo>
                  <a:pt x="0" y="6858000"/>
                </a:lnTo>
                <a:lnTo>
                  <a:pt x="1289303" y="6858000"/>
                </a:lnTo>
                <a:lnTo>
                  <a:pt x="1289303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4074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1" y="6858000"/>
                </a:lnTo>
                <a:lnTo>
                  <a:pt x="1248203" y="6858000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344" y="3590543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4215"/>
            <a:ext cx="448309" cy="2844165"/>
          </a:xfrm>
          <a:custGeom>
            <a:avLst/>
            <a:gdLst/>
            <a:ahLst/>
            <a:cxnLst/>
            <a:rect l="l" t="t" r="r" b="b"/>
            <a:pathLst>
              <a:path w="448309" h="2844165">
                <a:moveTo>
                  <a:pt x="0" y="0"/>
                </a:moveTo>
                <a:lnTo>
                  <a:pt x="0" y="2843783"/>
                </a:lnTo>
                <a:lnTo>
                  <a:pt x="448056" y="2843783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9371076" y="1524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7426452" y="3683507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3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9180576" y="0"/>
            <a:ext cx="3008630" cy="6858000"/>
          </a:xfrm>
          <a:custGeom>
            <a:avLst/>
            <a:gdLst/>
            <a:ahLst/>
            <a:cxnLst/>
            <a:rect l="l" t="t" r="r" b="b"/>
            <a:pathLst>
              <a:path w="3008629" h="6858000">
                <a:moveTo>
                  <a:pt x="3008375" y="0"/>
                </a:moveTo>
                <a:lnTo>
                  <a:pt x="2043499" y="0"/>
                </a:lnTo>
                <a:lnTo>
                  <a:pt x="0" y="6858000"/>
                </a:lnTo>
                <a:lnTo>
                  <a:pt x="3008375" y="6858000"/>
                </a:lnTo>
                <a:lnTo>
                  <a:pt x="3008375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9605858" y="0"/>
            <a:ext cx="2586355" cy="6858000"/>
          </a:xfrm>
          <a:custGeom>
            <a:avLst/>
            <a:gdLst/>
            <a:ahLst/>
            <a:cxnLst/>
            <a:rect l="l" t="t" r="r" b="b"/>
            <a:pathLst>
              <a:path w="2586354" h="6858000">
                <a:moveTo>
                  <a:pt x="2586142" y="0"/>
                </a:moveTo>
                <a:lnTo>
                  <a:pt x="0" y="0"/>
                </a:lnTo>
                <a:lnTo>
                  <a:pt x="1207430" y="6857999"/>
                </a:lnTo>
                <a:lnTo>
                  <a:pt x="2586142" y="6857999"/>
                </a:lnTo>
                <a:lnTo>
                  <a:pt x="2586142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8933688" y="3048000"/>
            <a:ext cx="3258820" cy="3810000"/>
          </a:xfrm>
          <a:custGeom>
            <a:avLst/>
            <a:gdLst/>
            <a:ahLst/>
            <a:cxnLst/>
            <a:rect l="l" t="t" r="r" b="b"/>
            <a:pathLst>
              <a:path w="3258820" h="3810000">
                <a:moveTo>
                  <a:pt x="3258311" y="0"/>
                </a:moveTo>
                <a:lnTo>
                  <a:pt x="0" y="3809999"/>
                </a:lnTo>
                <a:lnTo>
                  <a:pt x="3258311" y="3809999"/>
                </a:lnTo>
                <a:lnTo>
                  <a:pt x="3258311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9339312" y="0"/>
            <a:ext cx="2849880" cy="6858000"/>
          </a:xfrm>
          <a:custGeom>
            <a:avLst/>
            <a:gdLst/>
            <a:ahLst/>
            <a:cxnLst/>
            <a:rect l="l" t="t" r="r" b="b"/>
            <a:pathLst>
              <a:path w="2849879" h="6858000">
                <a:moveTo>
                  <a:pt x="2849639" y="0"/>
                </a:moveTo>
                <a:lnTo>
                  <a:pt x="0" y="0"/>
                </a:lnTo>
                <a:lnTo>
                  <a:pt x="2466226" y="6858000"/>
                </a:lnTo>
                <a:lnTo>
                  <a:pt x="2849639" y="6858000"/>
                </a:lnTo>
                <a:lnTo>
                  <a:pt x="2849639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0899648" y="0"/>
            <a:ext cx="1289685" cy="6858000"/>
          </a:xfrm>
          <a:custGeom>
            <a:avLst/>
            <a:gdLst/>
            <a:ahLst/>
            <a:cxnLst/>
            <a:rect l="l" t="t" r="r" b="b"/>
            <a:pathLst>
              <a:path w="1289684" h="6858000">
                <a:moveTo>
                  <a:pt x="1289303" y="0"/>
                </a:moveTo>
                <a:lnTo>
                  <a:pt x="1017691" y="0"/>
                </a:lnTo>
                <a:lnTo>
                  <a:pt x="0" y="6858000"/>
                </a:lnTo>
                <a:lnTo>
                  <a:pt x="1289303" y="6858000"/>
                </a:lnTo>
                <a:lnTo>
                  <a:pt x="1289303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094074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1" y="6858000"/>
                </a:lnTo>
                <a:lnTo>
                  <a:pt x="1248203" y="6858000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0372344" y="3590543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0" y="0"/>
            <a:ext cx="844550" cy="5678805"/>
          </a:xfrm>
          <a:custGeom>
            <a:avLst/>
            <a:gdLst/>
            <a:ahLst/>
            <a:cxnLst/>
            <a:rect l="l" t="t" r="r" b="b"/>
            <a:pathLst>
              <a:path w="844550" h="5678805">
                <a:moveTo>
                  <a:pt x="844296" y="12192"/>
                </a:moveTo>
                <a:lnTo>
                  <a:pt x="839431" y="12192"/>
                </a:lnTo>
                <a:lnTo>
                  <a:pt x="841248" y="0"/>
                </a:lnTo>
                <a:lnTo>
                  <a:pt x="0" y="0"/>
                </a:lnTo>
                <a:lnTo>
                  <a:pt x="0" y="5666232"/>
                </a:lnTo>
                <a:lnTo>
                  <a:pt x="3048" y="5645709"/>
                </a:lnTo>
                <a:lnTo>
                  <a:pt x="3048" y="5678424"/>
                </a:lnTo>
                <a:lnTo>
                  <a:pt x="844296" y="12192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C3B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6452" y="1524"/>
            <a:ext cx="4763770" cy="6858634"/>
          </a:xfrm>
          <a:custGeom>
            <a:avLst/>
            <a:gdLst/>
            <a:ahLst/>
            <a:cxnLst/>
            <a:rect l="l" t="t" r="r" b="b"/>
            <a:pathLst>
              <a:path w="4763770" h="6858634">
                <a:moveTo>
                  <a:pt x="1944624" y="0"/>
                </a:moveTo>
                <a:lnTo>
                  <a:pt x="3163824" y="6857999"/>
                </a:lnTo>
              </a:path>
              <a:path w="4763770" h="6858634">
                <a:moveTo>
                  <a:pt x="4763516" y="3681983"/>
                </a:moveTo>
                <a:lnTo>
                  <a:pt x="0" y="685857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0576" y="0"/>
            <a:ext cx="3008630" cy="6858000"/>
          </a:xfrm>
          <a:custGeom>
            <a:avLst/>
            <a:gdLst/>
            <a:ahLst/>
            <a:cxnLst/>
            <a:rect l="l" t="t" r="r" b="b"/>
            <a:pathLst>
              <a:path w="3008629" h="6858000">
                <a:moveTo>
                  <a:pt x="3008375" y="0"/>
                </a:moveTo>
                <a:lnTo>
                  <a:pt x="2043499" y="0"/>
                </a:lnTo>
                <a:lnTo>
                  <a:pt x="0" y="6858000"/>
                </a:lnTo>
                <a:lnTo>
                  <a:pt x="3008375" y="6858000"/>
                </a:lnTo>
                <a:lnTo>
                  <a:pt x="3008375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5858" y="0"/>
            <a:ext cx="2586355" cy="6858000"/>
          </a:xfrm>
          <a:custGeom>
            <a:avLst/>
            <a:gdLst/>
            <a:ahLst/>
            <a:cxnLst/>
            <a:rect l="l" t="t" r="r" b="b"/>
            <a:pathLst>
              <a:path w="2586354" h="6858000">
                <a:moveTo>
                  <a:pt x="2586142" y="0"/>
                </a:moveTo>
                <a:lnTo>
                  <a:pt x="0" y="0"/>
                </a:lnTo>
                <a:lnTo>
                  <a:pt x="1207430" y="6857999"/>
                </a:lnTo>
                <a:lnTo>
                  <a:pt x="2586142" y="6857999"/>
                </a:lnTo>
                <a:lnTo>
                  <a:pt x="2586142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3688" y="3048000"/>
            <a:ext cx="3258820" cy="3810000"/>
          </a:xfrm>
          <a:custGeom>
            <a:avLst/>
            <a:gdLst/>
            <a:ahLst/>
            <a:cxnLst/>
            <a:rect l="l" t="t" r="r" b="b"/>
            <a:pathLst>
              <a:path w="3258820" h="3810000">
                <a:moveTo>
                  <a:pt x="3258311" y="0"/>
                </a:moveTo>
                <a:lnTo>
                  <a:pt x="0" y="3809999"/>
                </a:lnTo>
                <a:lnTo>
                  <a:pt x="3258311" y="3809999"/>
                </a:lnTo>
                <a:lnTo>
                  <a:pt x="3258311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9312" y="0"/>
            <a:ext cx="2849880" cy="6858000"/>
          </a:xfrm>
          <a:custGeom>
            <a:avLst/>
            <a:gdLst/>
            <a:ahLst/>
            <a:cxnLst/>
            <a:rect l="l" t="t" r="r" b="b"/>
            <a:pathLst>
              <a:path w="2849879" h="6858000">
                <a:moveTo>
                  <a:pt x="2849639" y="0"/>
                </a:moveTo>
                <a:lnTo>
                  <a:pt x="0" y="0"/>
                </a:lnTo>
                <a:lnTo>
                  <a:pt x="2466226" y="6858000"/>
                </a:lnTo>
                <a:lnTo>
                  <a:pt x="2849639" y="6858000"/>
                </a:lnTo>
                <a:lnTo>
                  <a:pt x="2849639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9648" y="0"/>
            <a:ext cx="1289685" cy="6858000"/>
          </a:xfrm>
          <a:custGeom>
            <a:avLst/>
            <a:gdLst/>
            <a:ahLst/>
            <a:cxnLst/>
            <a:rect l="l" t="t" r="r" b="b"/>
            <a:pathLst>
              <a:path w="1289684" h="6858000">
                <a:moveTo>
                  <a:pt x="1289303" y="0"/>
                </a:moveTo>
                <a:lnTo>
                  <a:pt x="1017691" y="0"/>
                </a:lnTo>
                <a:lnTo>
                  <a:pt x="0" y="6858000"/>
                </a:lnTo>
                <a:lnTo>
                  <a:pt x="1289303" y="6858000"/>
                </a:lnTo>
                <a:lnTo>
                  <a:pt x="1289303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4074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1" y="6858000"/>
                </a:lnTo>
                <a:lnTo>
                  <a:pt x="1248203" y="6858000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344" y="3590543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4215"/>
            <a:ext cx="448309" cy="2844165"/>
          </a:xfrm>
          <a:custGeom>
            <a:avLst/>
            <a:gdLst/>
            <a:ahLst/>
            <a:cxnLst/>
            <a:rect l="l" t="t" r="r" b="b"/>
            <a:pathLst>
              <a:path w="448309" h="2844165">
                <a:moveTo>
                  <a:pt x="0" y="0"/>
                </a:moveTo>
                <a:lnTo>
                  <a:pt x="0" y="2843783"/>
                </a:lnTo>
                <a:lnTo>
                  <a:pt x="448056" y="2843783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76" y="1524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6452" y="3683507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3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0576" y="0"/>
            <a:ext cx="3008630" cy="6858000"/>
          </a:xfrm>
          <a:custGeom>
            <a:avLst/>
            <a:gdLst/>
            <a:ahLst/>
            <a:cxnLst/>
            <a:rect l="l" t="t" r="r" b="b"/>
            <a:pathLst>
              <a:path w="3008629" h="6858000">
                <a:moveTo>
                  <a:pt x="3008375" y="0"/>
                </a:moveTo>
                <a:lnTo>
                  <a:pt x="2043499" y="0"/>
                </a:lnTo>
                <a:lnTo>
                  <a:pt x="0" y="6858000"/>
                </a:lnTo>
                <a:lnTo>
                  <a:pt x="3008375" y="6858000"/>
                </a:lnTo>
                <a:lnTo>
                  <a:pt x="3008375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5858" y="0"/>
            <a:ext cx="2586355" cy="6858000"/>
          </a:xfrm>
          <a:custGeom>
            <a:avLst/>
            <a:gdLst/>
            <a:ahLst/>
            <a:cxnLst/>
            <a:rect l="l" t="t" r="r" b="b"/>
            <a:pathLst>
              <a:path w="2586354" h="6858000">
                <a:moveTo>
                  <a:pt x="2586142" y="0"/>
                </a:moveTo>
                <a:lnTo>
                  <a:pt x="0" y="0"/>
                </a:lnTo>
                <a:lnTo>
                  <a:pt x="1207430" y="6857999"/>
                </a:lnTo>
                <a:lnTo>
                  <a:pt x="2586142" y="6857999"/>
                </a:lnTo>
                <a:lnTo>
                  <a:pt x="2586142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3688" y="3048000"/>
            <a:ext cx="3258820" cy="3810000"/>
          </a:xfrm>
          <a:custGeom>
            <a:avLst/>
            <a:gdLst/>
            <a:ahLst/>
            <a:cxnLst/>
            <a:rect l="l" t="t" r="r" b="b"/>
            <a:pathLst>
              <a:path w="3258820" h="3810000">
                <a:moveTo>
                  <a:pt x="3258311" y="0"/>
                </a:moveTo>
                <a:lnTo>
                  <a:pt x="0" y="3809999"/>
                </a:lnTo>
                <a:lnTo>
                  <a:pt x="3258311" y="3809999"/>
                </a:lnTo>
                <a:lnTo>
                  <a:pt x="3258311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9312" y="0"/>
            <a:ext cx="2849880" cy="6858000"/>
          </a:xfrm>
          <a:custGeom>
            <a:avLst/>
            <a:gdLst/>
            <a:ahLst/>
            <a:cxnLst/>
            <a:rect l="l" t="t" r="r" b="b"/>
            <a:pathLst>
              <a:path w="2849879" h="6858000">
                <a:moveTo>
                  <a:pt x="2849639" y="0"/>
                </a:moveTo>
                <a:lnTo>
                  <a:pt x="0" y="0"/>
                </a:lnTo>
                <a:lnTo>
                  <a:pt x="2466226" y="6858000"/>
                </a:lnTo>
                <a:lnTo>
                  <a:pt x="2849639" y="6858000"/>
                </a:lnTo>
                <a:lnTo>
                  <a:pt x="2849639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9648" y="0"/>
            <a:ext cx="1289685" cy="6858000"/>
          </a:xfrm>
          <a:custGeom>
            <a:avLst/>
            <a:gdLst/>
            <a:ahLst/>
            <a:cxnLst/>
            <a:rect l="l" t="t" r="r" b="b"/>
            <a:pathLst>
              <a:path w="1289684" h="6858000">
                <a:moveTo>
                  <a:pt x="1289303" y="0"/>
                </a:moveTo>
                <a:lnTo>
                  <a:pt x="1017691" y="0"/>
                </a:lnTo>
                <a:lnTo>
                  <a:pt x="0" y="6858000"/>
                </a:lnTo>
                <a:lnTo>
                  <a:pt x="1289303" y="6858000"/>
                </a:lnTo>
                <a:lnTo>
                  <a:pt x="1289303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4074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1" y="6858000"/>
                </a:lnTo>
                <a:lnTo>
                  <a:pt x="1248203" y="6858000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344" y="3590543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4215"/>
            <a:ext cx="448309" cy="2844165"/>
          </a:xfrm>
          <a:custGeom>
            <a:avLst/>
            <a:gdLst/>
            <a:ahLst/>
            <a:cxnLst/>
            <a:rect l="l" t="t" r="r" b="b"/>
            <a:pathLst>
              <a:path w="448309" h="2844165">
                <a:moveTo>
                  <a:pt x="0" y="0"/>
                </a:moveTo>
                <a:lnTo>
                  <a:pt x="0" y="2843783"/>
                </a:lnTo>
                <a:lnTo>
                  <a:pt x="448056" y="2843783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6310" y="576198"/>
            <a:ext cx="10565739" cy="8075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96329" y="1460372"/>
            <a:ext cx="5340350" cy="4186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Magnifying glass showing decling performanc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98060" y="0"/>
            <a:ext cx="7893939" cy="685786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56310" y="590753"/>
            <a:ext cx="3559810" cy="122237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84"/>
              </a:spcBef>
            </a:pPr>
            <a:r>
              <a:rPr sz="2800" b="1" spc="-70" dirty="0">
                <a:solidFill>
                  <a:srgbClr val="90C225"/>
                </a:solidFill>
                <a:latin typeface="Segoe UI"/>
                <a:cs typeface="Segoe UI"/>
              </a:rPr>
              <a:t>Sales</a:t>
            </a:r>
            <a:r>
              <a:rPr sz="2800" b="1" spc="-110" dirty="0">
                <a:solidFill>
                  <a:srgbClr val="90C225"/>
                </a:solidFill>
                <a:latin typeface="Segoe UI"/>
                <a:cs typeface="Segoe UI"/>
              </a:rPr>
              <a:t> </a:t>
            </a:r>
            <a:r>
              <a:rPr sz="2800" b="1" spc="-30" dirty="0">
                <a:solidFill>
                  <a:srgbClr val="90C225"/>
                </a:solidFill>
                <a:latin typeface="Segoe UI"/>
                <a:cs typeface="Segoe UI"/>
              </a:rPr>
              <a:t>Performance </a:t>
            </a:r>
            <a:r>
              <a:rPr sz="2800" b="1" spc="-114" dirty="0">
                <a:solidFill>
                  <a:srgbClr val="90C225"/>
                </a:solidFill>
                <a:latin typeface="Segoe UI"/>
                <a:cs typeface="Segoe UI"/>
              </a:rPr>
              <a:t>Analysis</a:t>
            </a:r>
            <a:r>
              <a:rPr sz="2800" b="1" spc="-50" dirty="0">
                <a:solidFill>
                  <a:srgbClr val="90C225"/>
                </a:solidFill>
                <a:latin typeface="Segoe UI"/>
                <a:cs typeface="Segoe UI"/>
              </a:rPr>
              <a:t> </a:t>
            </a:r>
            <a:r>
              <a:rPr sz="2800" b="1" spc="-90" dirty="0">
                <a:solidFill>
                  <a:srgbClr val="90C225"/>
                </a:solidFill>
                <a:latin typeface="Segoe UI"/>
                <a:cs typeface="Segoe UI"/>
              </a:rPr>
              <a:t>Using</a:t>
            </a:r>
            <a:r>
              <a:rPr sz="2800" b="1" spc="-80" dirty="0">
                <a:solidFill>
                  <a:srgbClr val="90C225"/>
                </a:solidFill>
                <a:latin typeface="Segoe UI"/>
                <a:cs typeface="Segoe UI"/>
              </a:rPr>
              <a:t> </a:t>
            </a:r>
            <a:r>
              <a:rPr sz="2800" b="1" spc="-110" dirty="0">
                <a:solidFill>
                  <a:srgbClr val="90C225"/>
                </a:solidFill>
                <a:latin typeface="Segoe UI"/>
                <a:cs typeface="Segoe UI"/>
              </a:rPr>
              <a:t>Python, </a:t>
            </a:r>
            <a:r>
              <a:rPr sz="2800" b="1" spc="-45" dirty="0">
                <a:solidFill>
                  <a:srgbClr val="90C225"/>
                </a:solidFill>
                <a:latin typeface="Segoe UI"/>
                <a:cs typeface="Segoe UI"/>
              </a:rPr>
              <a:t>SQL</a:t>
            </a:r>
            <a:r>
              <a:rPr sz="2800" b="1" spc="-150" dirty="0">
                <a:solidFill>
                  <a:srgbClr val="90C225"/>
                </a:solidFill>
                <a:latin typeface="Segoe UI"/>
                <a:cs typeface="Segoe UI"/>
              </a:rPr>
              <a:t> </a:t>
            </a:r>
            <a:r>
              <a:rPr sz="2800" b="1" dirty="0">
                <a:solidFill>
                  <a:srgbClr val="90C225"/>
                </a:solidFill>
                <a:latin typeface="Segoe UI"/>
                <a:cs typeface="Segoe UI"/>
              </a:rPr>
              <a:t>&amp;</a:t>
            </a:r>
            <a:r>
              <a:rPr sz="2800" b="1" spc="-114" dirty="0">
                <a:solidFill>
                  <a:srgbClr val="90C225"/>
                </a:solidFill>
                <a:latin typeface="Segoe UI"/>
                <a:cs typeface="Segoe UI"/>
              </a:rPr>
              <a:t> </a:t>
            </a:r>
            <a:r>
              <a:rPr sz="2800" b="1" spc="-150" dirty="0">
                <a:solidFill>
                  <a:srgbClr val="90C225"/>
                </a:solidFill>
                <a:latin typeface="Segoe UI"/>
                <a:cs typeface="Segoe UI"/>
              </a:rPr>
              <a:t>Power</a:t>
            </a:r>
            <a:r>
              <a:rPr sz="2800" b="1" spc="-75" dirty="0">
                <a:solidFill>
                  <a:srgbClr val="90C225"/>
                </a:solidFill>
                <a:latin typeface="Segoe UI"/>
                <a:cs typeface="Segoe UI"/>
              </a:rPr>
              <a:t> </a:t>
            </a:r>
            <a:r>
              <a:rPr sz="2800" b="1" spc="-25" dirty="0">
                <a:solidFill>
                  <a:srgbClr val="90C225"/>
                </a:solidFill>
                <a:latin typeface="Segoe UI"/>
                <a:cs typeface="Segoe UI"/>
              </a:rPr>
              <a:t>BI</a:t>
            </a:r>
            <a:endParaRPr sz="28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6310" y="2170302"/>
            <a:ext cx="2980690" cy="3760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490"/>
              </a:lnSpc>
              <a:spcBef>
                <a:spcPts val="95"/>
              </a:spcBef>
            </a:pPr>
            <a:r>
              <a:rPr sz="1300" b="1" dirty="0">
                <a:solidFill>
                  <a:srgbClr val="404040"/>
                </a:solidFill>
                <a:latin typeface="Trebuchet MS"/>
                <a:cs typeface="Trebuchet MS"/>
              </a:rPr>
              <a:t>Subtitle</a:t>
            </a:r>
            <a:r>
              <a:rPr sz="1300" b="1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1300" b="1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Storytelling</a:t>
            </a:r>
            <a:r>
              <a:rPr sz="13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&amp;</a:t>
            </a:r>
            <a:r>
              <a:rPr sz="13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Trebuchet MS"/>
                <a:cs typeface="Trebuchet MS"/>
              </a:rPr>
              <a:t>Statistical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490"/>
              </a:lnSpc>
            </a:pPr>
            <a:r>
              <a:rPr sz="1300" spc="-10" dirty="0">
                <a:solidFill>
                  <a:srgbClr val="404040"/>
                </a:solidFill>
                <a:latin typeface="Trebuchet MS"/>
                <a:cs typeface="Trebuchet MS"/>
              </a:rPr>
              <a:t>Validation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300" b="1" dirty="0">
                <a:solidFill>
                  <a:srgbClr val="404040"/>
                </a:solidFill>
                <a:latin typeface="Trebuchet MS"/>
                <a:cs typeface="Trebuchet MS"/>
              </a:rPr>
              <a:t>Project</a:t>
            </a:r>
            <a:r>
              <a:rPr sz="1300" b="1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404040"/>
                </a:solidFill>
                <a:latin typeface="Trebuchet MS"/>
                <a:cs typeface="Trebuchet MS"/>
              </a:rPr>
              <a:t>Information: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300" b="1" dirty="0">
                <a:solidFill>
                  <a:srgbClr val="404040"/>
                </a:solidFill>
                <a:latin typeface="Trebuchet MS"/>
                <a:cs typeface="Trebuchet MS"/>
              </a:rPr>
              <a:t>Prepared</a:t>
            </a:r>
            <a:r>
              <a:rPr sz="1300" b="1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b="1" spc="-25" dirty="0">
                <a:solidFill>
                  <a:srgbClr val="404040"/>
                </a:solidFill>
                <a:latin typeface="Trebuchet MS"/>
                <a:cs typeface="Trebuchet MS"/>
              </a:rPr>
              <a:t>By: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Shaik</a:t>
            </a:r>
            <a:r>
              <a:rPr sz="13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Trebuchet MS"/>
                <a:cs typeface="Trebuchet MS"/>
              </a:rPr>
              <a:t>Farhana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300" b="1" spc="-10" dirty="0">
                <a:solidFill>
                  <a:srgbClr val="404040"/>
                </a:solidFill>
                <a:latin typeface="Trebuchet MS"/>
                <a:cs typeface="Trebuchet MS"/>
              </a:rPr>
              <a:t>Internship: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ApexPlanet</a:t>
            </a:r>
            <a:r>
              <a:rPr sz="13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Software</a:t>
            </a:r>
            <a:r>
              <a:rPr sz="13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Pvt.</a:t>
            </a:r>
            <a:r>
              <a:rPr sz="13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404040"/>
                </a:solidFill>
                <a:latin typeface="Trebuchet MS"/>
                <a:cs typeface="Trebuchet MS"/>
              </a:rPr>
              <a:t>Ltd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300" b="1" spc="-10" dirty="0">
                <a:solidFill>
                  <a:srgbClr val="404040"/>
                </a:solidFill>
                <a:latin typeface="Trebuchet MS"/>
                <a:cs typeface="Trebuchet MS"/>
              </a:rPr>
              <a:t>Role: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sz="1300" spc="-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Analystics</a:t>
            </a:r>
            <a:r>
              <a:rPr sz="13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Trebuchet MS"/>
                <a:cs typeface="Trebuchet MS"/>
              </a:rPr>
              <a:t>Intern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300" b="1" spc="-25" dirty="0">
                <a:solidFill>
                  <a:srgbClr val="404040"/>
                </a:solidFill>
                <a:latin typeface="Trebuchet MS"/>
                <a:cs typeface="Trebuchet MS"/>
              </a:rPr>
              <a:t>Tools</a:t>
            </a:r>
            <a:r>
              <a:rPr sz="1300" b="1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404040"/>
                </a:solidFill>
                <a:latin typeface="Trebuchet MS"/>
                <a:cs typeface="Trebuchet MS"/>
              </a:rPr>
              <a:t>Used: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Python,</a:t>
            </a:r>
            <a:r>
              <a:rPr sz="13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SQL,</a:t>
            </a:r>
            <a:r>
              <a:rPr sz="13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Trebuchet MS"/>
                <a:cs typeface="Trebuchet MS"/>
              </a:rPr>
              <a:t>Power</a:t>
            </a:r>
            <a:r>
              <a:rPr sz="13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BI,</a:t>
            </a:r>
            <a:r>
              <a:rPr sz="13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20" dirty="0">
                <a:solidFill>
                  <a:srgbClr val="404040"/>
                </a:solidFill>
                <a:latin typeface="Trebuchet MS"/>
                <a:cs typeface="Trebuchet MS"/>
              </a:rPr>
              <a:t>Excel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300" b="1" spc="-10" dirty="0">
                <a:solidFill>
                  <a:srgbClr val="404040"/>
                </a:solidFill>
                <a:latin typeface="Trebuchet MS"/>
                <a:cs typeface="Trebuchet MS"/>
              </a:rPr>
              <a:t>Date: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July</a:t>
            </a:r>
            <a:r>
              <a:rPr sz="13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20" dirty="0">
                <a:solidFill>
                  <a:srgbClr val="404040"/>
                </a:solidFill>
                <a:latin typeface="Trebuchet MS"/>
                <a:cs typeface="Trebuchet MS"/>
              </a:rPr>
              <a:t>2026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421880" y="-3047"/>
            <a:ext cx="4772660" cy="6868159"/>
            <a:chOff x="7421880" y="-3047"/>
            <a:chExt cx="4772660" cy="6868159"/>
          </a:xfrm>
        </p:grpSpPr>
        <p:sp>
          <p:nvSpPr>
            <p:cNvPr id="6" name="object 6"/>
            <p:cNvSpPr/>
            <p:nvPr/>
          </p:nvSpPr>
          <p:spPr>
            <a:xfrm>
              <a:off x="9371076" y="1524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26452" y="3683507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ln w="9143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180576" y="0"/>
              <a:ext cx="3008630" cy="6858000"/>
            </a:xfrm>
            <a:custGeom>
              <a:avLst/>
              <a:gdLst/>
              <a:ahLst/>
              <a:cxnLst/>
              <a:rect l="l" t="t" r="r" b="b"/>
              <a:pathLst>
                <a:path w="3008629" h="6858000">
                  <a:moveTo>
                    <a:pt x="3008375" y="0"/>
                  </a:moveTo>
                  <a:lnTo>
                    <a:pt x="2043499" y="0"/>
                  </a:lnTo>
                  <a:lnTo>
                    <a:pt x="0" y="6858000"/>
                  </a:lnTo>
                  <a:lnTo>
                    <a:pt x="3008375" y="6858000"/>
                  </a:lnTo>
                  <a:lnTo>
                    <a:pt x="3008375" y="0"/>
                  </a:lnTo>
                  <a:close/>
                </a:path>
              </a:pathLst>
            </a:custGeom>
            <a:solidFill>
              <a:srgbClr val="90C225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605858" y="0"/>
              <a:ext cx="2586355" cy="6858000"/>
            </a:xfrm>
            <a:custGeom>
              <a:avLst/>
              <a:gdLst/>
              <a:ahLst/>
              <a:cxnLst/>
              <a:rect l="l" t="t" r="r" b="b"/>
              <a:pathLst>
                <a:path w="2586354" h="6858000">
                  <a:moveTo>
                    <a:pt x="2586142" y="0"/>
                  </a:moveTo>
                  <a:lnTo>
                    <a:pt x="0" y="0"/>
                  </a:lnTo>
                  <a:lnTo>
                    <a:pt x="1207430" y="6857999"/>
                  </a:lnTo>
                  <a:lnTo>
                    <a:pt x="2586142" y="6857999"/>
                  </a:lnTo>
                  <a:lnTo>
                    <a:pt x="2586142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33688" y="3048000"/>
              <a:ext cx="3258820" cy="3810000"/>
            </a:xfrm>
            <a:custGeom>
              <a:avLst/>
              <a:gdLst/>
              <a:ahLst/>
              <a:cxnLst/>
              <a:rect l="l" t="t" r="r" b="b"/>
              <a:pathLst>
                <a:path w="3258820" h="3810000">
                  <a:moveTo>
                    <a:pt x="3258311" y="0"/>
                  </a:moveTo>
                  <a:lnTo>
                    <a:pt x="0" y="3809999"/>
                  </a:lnTo>
                  <a:lnTo>
                    <a:pt x="3258311" y="3809999"/>
                  </a:lnTo>
                  <a:lnTo>
                    <a:pt x="3258311" y="0"/>
                  </a:lnTo>
                  <a:close/>
                </a:path>
              </a:pathLst>
            </a:custGeom>
            <a:solidFill>
              <a:srgbClr val="539F20">
                <a:alpha val="7215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339312" y="0"/>
              <a:ext cx="2849880" cy="6858000"/>
            </a:xfrm>
            <a:custGeom>
              <a:avLst/>
              <a:gdLst/>
              <a:ahLst/>
              <a:cxnLst/>
              <a:rect l="l" t="t" r="r" b="b"/>
              <a:pathLst>
                <a:path w="2849879" h="6858000">
                  <a:moveTo>
                    <a:pt x="2849639" y="0"/>
                  </a:moveTo>
                  <a:lnTo>
                    <a:pt x="0" y="0"/>
                  </a:lnTo>
                  <a:lnTo>
                    <a:pt x="2466226" y="6858000"/>
                  </a:lnTo>
                  <a:lnTo>
                    <a:pt x="2849639" y="6858000"/>
                  </a:lnTo>
                  <a:lnTo>
                    <a:pt x="2849639" y="0"/>
                  </a:lnTo>
                  <a:close/>
                </a:path>
              </a:pathLst>
            </a:custGeom>
            <a:solidFill>
              <a:srgbClr val="3E7818">
                <a:alpha val="4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899648" y="0"/>
              <a:ext cx="1289685" cy="6858000"/>
            </a:xfrm>
            <a:custGeom>
              <a:avLst/>
              <a:gdLst/>
              <a:ahLst/>
              <a:cxnLst/>
              <a:rect l="l" t="t" r="r" b="b"/>
              <a:pathLst>
                <a:path w="1289684" h="6858000">
                  <a:moveTo>
                    <a:pt x="1289303" y="0"/>
                  </a:moveTo>
                  <a:lnTo>
                    <a:pt x="1017691" y="0"/>
                  </a:lnTo>
                  <a:lnTo>
                    <a:pt x="0" y="6858000"/>
                  </a:lnTo>
                  <a:lnTo>
                    <a:pt x="1289303" y="6858000"/>
                  </a:lnTo>
                  <a:lnTo>
                    <a:pt x="1289303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>
                  <a:moveTo>
                    <a:pt x="1248203" y="0"/>
                  </a:moveTo>
                  <a:lnTo>
                    <a:pt x="0" y="0"/>
                  </a:lnTo>
                  <a:lnTo>
                    <a:pt x="1107741" y="6858000"/>
                  </a:lnTo>
                  <a:lnTo>
                    <a:pt x="1248203" y="6858000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90C225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372344" y="3590543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C3B4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421880" y="-3047"/>
            <a:ext cx="4772660" cy="6868159"/>
            <a:chOff x="7421880" y="-3047"/>
            <a:chExt cx="4772660" cy="6868159"/>
          </a:xfrm>
        </p:grpSpPr>
        <p:sp>
          <p:nvSpPr>
            <p:cNvPr id="4" name="object 4"/>
            <p:cNvSpPr/>
            <p:nvPr/>
          </p:nvSpPr>
          <p:spPr>
            <a:xfrm>
              <a:off x="7426452" y="1524"/>
              <a:ext cx="4763770" cy="6858634"/>
            </a:xfrm>
            <a:custGeom>
              <a:avLst/>
              <a:gdLst/>
              <a:ahLst/>
              <a:cxnLst/>
              <a:rect l="l" t="t" r="r" b="b"/>
              <a:pathLst>
                <a:path w="4763770" h="6858634">
                  <a:moveTo>
                    <a:pt x="1944624" y="0"/>
                  </a:moveTo>
                  <a:lnTo>
                    <a:pt x="3163824" y="6857999"/>
                  </a:lnTo>
                </a:path>
                <a:path w="4763770" h="6858634">
                  <a:moveTo>
                    <a:pt x="4763516" y="3681983"/>
                  </a:moveTo>
                  <a:lnTo>
                    <a:pt x="0" y="685857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80576" y="0"/>
              <a:ext cx="3008630" cy="6858000"/>
            </a:xfrm>
            <a:custGeom>
              <a:avLst/>
              <a:gdLst/>
              <a:ahLst/>
              <a:cxnLst/>
              <a:rect l="l" t="t" r="r" b="b"/>
              <a:pathLst>
                <a:path w="3008629" h="6858000">
                  <a:moveTo>
                    <a:pt x="3008375" y="0"/>
                  </a:moveTo>
                  <a:lnTo>
                    <a:pt x="2043499" y="0"/>
                  </a:lnTo>
                  <a:lnTo>
                    <a:pt x="0" y="6858000"/>
                  </a:lnTo>
                  <a:lnTo>
                    <a:pt x="3008375" y="6858000"/>
                  </a:lnTo>
                  <a:lnTo>
                    <a:pt x="3008375" y="0"/>
                  </a:lnTo>
                  <a:close/>
                </a:path>
              </a:pathLst>
            </a:custGeom>
            <a:solidFill>
              <a:srgbClr val="90C225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05858" y="0"/>
              <a:ext cx="2586355" cy="6858000"/>
            </a:xfrm>
            <a:custGeom>
              <a:avLst/>
              <a:gdLst/>
              <a:ahLst/>
              <a:cxnLst/>
              <a:rect l="l" t="t" r="r" b="b"/>
              <a:pathLst>
                <a:path w="2586354" h="6858000">
                  <a:moveTo>
                    <a:pt x="2586142" y="0"/>
                  </a:moveTo>
                  <a:lnTo>
                    <a:pt x="0" y="0"/>
                  </a:lnTo>
                  <a:lnTo>
                    <a:pt x="1207430" y="6857999"/>
                  </a:lnTo>
                  <a:lnTo>
                    <a:pt x="2586142" y="6857999"/>
                  </a:lnTo>
                  <a:lnTo>
                    <a:pt x="2586142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33688" y="3048000"/>
              <a:ext cx="3258820" cy="3810000"/>
            </a:xfrm>
            <a:custGeom>
              <a:avLst/>
              <a:gdLst/>
              <a:ahLst/>
              <a:cxnLst/>
              <a:rect l="l" t="t" r="r" b="b"/>
              <a:pathLst>
                <a:path w="3258820" h="3810000">
                  <a:moveTo>
                    <a:pt x="3258311" y="0"/>
                  </a:moveTo>
                  <a:lnTo>
                    <a:pt x="0" y="3809999"/>
                  </a:lnTo>
                  <a:lnTo>
                    <a:pt x="3258311" y="3809999"/>
                  </a:lnTo>
                  <a:lnTo>
                    <a:pt x="3258311" y="0"/>
                  </a:lnTo>
                  <a:close/>
                </a:path>
              </a:pathLst>
            </a:custGeom>
            <a:solidFill>
              <a:srgbClr val="539F20">
                <a:alpha val="7215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39312" y="0"/>
              <a:ext cx="2849880" cy="6858000"/>
            </a:xfrm>
            <a:custGeom>
              <a:avLst/>
              <a:gdLst/>
              <a:ahLst/>
              <a:cxnLst/>
              <a:rect l="l" t="t" r="r" b="b"/>
              <a:pathLst>
                <a:path w="2849879" h="6858000">
                  <a:moveTo>
                    <a:pt x="2849639" y="0"/>
                  </a:moveTo>
                  <a:lnTo>
                    <a:pt x="0" y="0"/>
                  </a:lnTo>
                  <a:lnTo>
                    <a:pt x="2466226" y="6858000"/>
                  </a:lnTo>
                  <a:lnTo>
                    <a:pt x="2849639" y="6858000"/>
                  </a:lnTo>
                  <a:lnTo>
                    <a:pt x="2849639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99648" y="0"/>
              <a:ext cx="1289685" cy="6858000"/>
            </a:xfrm>
            <a:custGeom>
              <a:avLst/>
              <a:gdLst/>
              <a:ahLst/>
              <a:cxnLst/>
              <a:rect l="l" t="t" r="r" b="b"/>
              <a:pathLst>
                <a:path w="1289684" h="6858000">
                  <a:moveTo>
                    <a:pt x="1289303" y="0"/>
                  </a:moveTo>
                  <a:lnTo>
                    <a:pt x="1017691" y="0"/>
                  </a:lnTo>
                  <a:lnTo>
                    <a:pt x="0" y="6858000"/>
                  </a:lnTo>
                  <a:lnTo>
                    <a:pt x="1289303" y="6858000"/>
                  </a:lnTo>
                  <a:lnTo>
                    <a:pt x="1289303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>
                  <a:moveTo>
                    <a:pt x="1248203" y="0"/>
                  </a:moveTo>
                  <a:lnTo>
                    <a:pt x="0" y="0"/>
                  </a:lnTo>
                  <a:lnTo>
                    <a:pt x="1107741" y="6858000"/>
                  </a:lnTo>
                  <a:lnTo>
                    <a:pt x="1248203" y="6858000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90C225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72344" y="3590543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 descr="Desk with productivity items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object 13"/>
            <p:cNvSpPr/>
            <p:nvPr/>
          </p:nvSpPr>
          <p:spPr>
            <a:xfrm>
              <a:off x="0" y="4014215"/>
              <a:ext cx="448309" cy="2844165"/>
            </a:xfrm>
            <a:custGeom>
              <a:avLst/>
              <a:gdLst/>
              <a:ahLst/>
              <a:cxnLst/>
              <a:rect l="l" t="t" r="r" b="b"/>
              <a:pathLst>
                <a:path w="448309" h="2844165">
                  <a:moveTo>
                    <a:pt x="0" y="0"/>
                  </a:moveTo>
                  <a:lnTo>
                    <a:pt x="0" y="2843783"/>
                  </a:lnTo>
                  <a:lnTo>
                    <a:pt x="448056" y="28437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5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 descr="Desk with productivity items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5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90C225"/>
                </a:solidFill>
              </a:rPr>
              <a:t>Business</a:t>
            </a:r>
            <a:r>
              <a:rPr sz="3600" spc="-135" dirty="0">
                <a:solidFill>
                  <a:srgbClr val="90C225"/>
                </a:solidFill>
              </a:rPr>
              <a:t> </a:t>
            </a:r>
            <a:r>
              <a:rPr sz="3600" dirty="0">
                <a:solidFill>
                  <a:srgbClr val="90C225"/>
                </a:solidFill>
              </a:rPr>
              <a:t>Problem</a:t>
            </a:r>
            <a:r>
              <a:rPr sz="3600" spc="-110" dirty="0">
                <a:solidFill>
                  <a:srgbClr val="90C225"/>
                </a:solidFill>
              </a:rPr>
              <a:t> </a:t>
            </a:r>
            <a:r>
              <a:rPr sz="3600" dirty="0">
                <a:solidFill>
                  <a:srgbClr val="90C225"/>
                </a:solidFill>
              </a:rPr>
              <a:t>&amp;</a:t>
            </a:r>
            <a:r>
              <a:rPr sz="3600" spc="-114" dirty="0">
                <a:solidFill>
                  <a:srgbClr val="90C225"/>
                </a:solidFill>
              </a:rPr>
              <a:t> </a:t>
            </a:r>
            <a:r>
              <a:rPr sz="3600" spc="-10" dirty="0">
                <a:solidFill>
                  <a:srgbClr val="90C225"/>
                </a:solidFill>
              </a:rPr>
              <a:t>Objectives</a:t>
            </a:r>
            <a:endParaRPr sz="3600"/>
          </a:p>
        </p:txBody>
      </p:sp>
      <p:sp>
        <p:nvSpPr>
          <p:cNvPr id="16" name="object 16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/>
              <a:t>Business</a:t>
            </a:r>
            <a:r>
              <a:rPr spc="-30" dirty="0"/>
              <a:t> </a:t>
            </a:r>
            <a:r>
              <a:rPr spc="-10" dirty="0"/>
              <a:t>Problem</a:t>
            </a:r>
          </a:p>
          <a:p>
            <a:pPr marL="12700" marR="5080" indent="20955">
              <a:lnSpc>
                <a:spcPct val="80000"/>
              </a:lnSpc>
              <a:spcBef>
                <a:spcPts val="1000"/>
              </a:spcBef>
            </a:pPr>
            <a:r>
              <a:rPr sz="1300" b="0" dirty="0">
                <a:latin typeface="Trebuchet MS"/>
                <a:cs typeface="Trebuchet MS"/>
              </a:rPr>
              <a:t>The</a:t>
            </a:r>
            <a:r>
              <a:rPr sz="1300" b="0" spc="-40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company</a:t>
            </a:r>
            <a:r>
              <a:rPr sz="1300" b="0" spc="-40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wants</a:t>
            </a:r>
            <a:r>
              <a:rPr sz="1300" b="0" spc="-25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to</a:t>
            </a:r>
            <a:r>
              <a:rPr sz="1300" b="0" spc="-45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analyze</a:t>
            </a:r>
            <a:r>
              <a:rPr sz="1300" b="0" spc="-35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its</a:t>
            </a:r>
            <a:r>
              <a:rPr sz="1300" b="0" spc="-25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sales data</a:t>
            </a:r>
            <a:r>
              <a:rPr sz="1300" b="0" spc="-5" dirty="0">
                <a:latin typeface="Trebuchet MS"/>
                <a:cs typeface="Trebuchet MS"/>
              </a:rPr>
              <a:t> </a:t>
            </a:r>
            <a:r>
              <a:rPr sz="1300" b="0" spc="-25" dirty="0">
                <a:latin typeface="Trebuchet MS"/>
                <a:cs typeface="Trebuchet MS"/>
              </a:rPr>
              <a:t>to </a:t>
            </a:r>
            <a:r>
              <a:rPr sz="1300" b="0" dirty="0">
                <a:latin typeface="Trebuchet MS"/>
                <a:cs typeface="Trebuchet MS"/>
              </a:rPr>
              <a:t>understand</a:t>
            </a:r>
            <a:r>
              <a:rPr sz="1300" b="0" spc="-60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customer</a:t>
            </a:r>
            <a:r>
              <a:rPr sz="1300" b="0" spc="-80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purchasing</a:t>
            </a:r>
            <a:r>
              <a:rPr sz="1300" b="0" spc="-80" dirty="0">
                <a:latin typeface="Trebuchet MS"/>
                <a:cs typeface="Trebuchet MS"/>
              </a:rPr>
              <a:t> </a:t>
            </a:r>
            <a:r>
              <a:rPr sz="1300" b="0" spc="-20" dirty="0">
                <a:latin typeface="Trebuchet MS"/>
                <a:cs typeface="Trebuchet MS"/>
              </a:rPr>
              <a:t>behavior,</a:t>
            </a:r>
            <a:r>
              <a:rPr sz="1300" b="0" spc="-15" dirty="0">
                <a:latin typeface="Trebuchet MS"/>
                <a:cs typeface="Trebuchet MS"/>
              </a:rPr>
              <a:t> </a:t>
            </a:r>
            <a:r>
              <a:rPr sz="1300" b="0" spc="-10" dirty="0">
                <a:latin typeface="Trebuchet MS"/>
                <a:cs typeface="Trebuchet MS"/>
              </a:rPr>
              <a:t>product </a:t>
            </a:r>
            <a:r>
              <a:rPr sz="1300" b="0" dirty="0">
                <a:latin typeface="Trebuchet MS"/>
                <a:cs typeface="Trebuchet MS"/>
              </a:rPr>
              <a:t>performance,</a:t>
            </a:r>
            <a:r>
              <a:rPr sz="1300" b="0" spc="-30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and</a:t>
            </a:r>
            <a:r>
              <a:rPr sz="1300" b="0" spc="-35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sales</a:t>
            </a:r>
            <a:r>
              <a:rPr sz="1300" b="0" spc="-25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trends.</a:t>
            </a:r>
            <a:r>
              <a:rPr sz="1300" b="0" spc="-45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The</a:t>
            </a:r>
            <a:r>
              <a:rPr sz="1300" b="0" spc="-60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goal</a:t>
            </a:r>
            <a:r>
              <a:rPr sz="1300" b="0" spc="-30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is</a:t>
            </a:r>
            <a:r>
              <a:rPr sz="1300" b="0" spc="-25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to</a:t>
            </a:r>
            <a:r>
              <a:rPr sz="1300" b="0" spc="-35" dirty="0">
                <a:latin typeface="Trebuchet MS"/>
                <a:cs typeface="Trebuchet MS"/>
              </a:rPr>
              <a:t> </a:t>
            </a:r>
            <a:r>
              <a:rPr sz="1300" b="0" spc="-10" dirty="0">
                <a:latin typeface="Trebuchet MS"/>
                <a:cs typeface="Trebuchet MS"/>
              </a:rPr>
              <a:t>identify </a:t>
            </a:r>
            <a:r>
              <a:rPr sz="1300" b="0" dirty="0">
                <a:latin typeface="Trebuchet MS"/>
                <a:cs typeface="Trebuchet MS"/>
              </a:rPr>
              <a:t>the</a:t>
            </a:r>
            <a:r>
              <a:rPr sz="1300" b="0" spc="-40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key</a:t>
            </a:r>
            <a:r>
              <a:rPr sz="1300" b="0" spc="-45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factors</a:t>
            </a:r>
            <a:r>
              <a:rPr sz="1300" b="0" spc="-25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affecting</a:t>
            </a:r>
            <a:r>
              <a:rPr sz="1300" b="0" spc="-30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total</a:t>
            </a:r>
            <a:r>
              <a:rPr sz="1300" b="0" spc="-5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sales</a:t>
            </a:r>
            <a:r>
              <a:rPr sz="1300" b="0" spc="-25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and</a:t>
            </a:r>
            <a:r>
              <a:rPr sz="1300" b="0" spc="-30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use</a:t>
            </a:r>
            <a:r>
              <a:rPr sz="1300" b="0" spc="-60" dirty="0">
                <a:latin typeface="Trebuchet MS"/>
                <a:cs typeface="Trebuchet MS"/>
              </a:rPr>
              <a:t> </a:t>
            </a:r>
            <a:r>
              <a:rPr sz="1300" b="0" spc="-10" dirty="0">
                <a:latin typeface="Trebuchet MS"/>
                <a:cs typeface="Trebuchet MS"/>
              </a:rPr>
              <a:t>data-</a:t>
            </a:r>
            <a:r>
              <a:rPr sz="1300" b="0" dirty="0">
                <a:latin typeface="Trebuchet MS"/>
                <a:cs typeface="Trebuchet MS"/>
              </a:rPr>
              <a:t>driven</a:t>
            </a:r>
            <a:r>
              <a:rPr sz="1300" b="0" spc="-25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insights</a:t>
            </a:r>
            <a:r>
              <a:rPr sz="1300" b="0" spc="-50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to</a:t>
            </a:r>
            <a:r>
              <a:rPr sz="1300" b="0" spc="-70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improve</a:t>
            </a:r>
            <a:r>
              <a:rPr sz="1300" b="0" spc="-40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business</a:t>
            </a:r>
            <a:r>
              <a:rPr sz="1300" b="0" spc="-40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performance</a:t>
            </a:r>
            <a:r>
              <a:rPr sz="1300" b="0" spc="-60" dirty="0">
                <a:latin typeface="Trebuchet MS"/>
                <a:cs typeface="Trebuchet MS"/>
              </a:rPr>
              <a:t> </a:t>
            </a:r>
            <a:r>
              <a:rPr sz="1300" b="0" spc="-25" dirty="0">
                <a:latin typeface="Trebuchet MS"/>
                <a:cs typeface="Trebuchet MS"/>
              </a:rPr>
              <a:t>and </a:t>
            </a:r>
            <a:r>
              <a:rPr sz="1300" b="0" spc="-10" dirty="0">
                <a:latin typeface="Trebuchet MS"/>
                <a:cs typeface="Trebuchet MS"/>
              </a:rPr>
              <a:t>decision-making.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/>
              <a:t>Project</a:t>
            </a:r>
            <a:r>
              <a:rPr spc="-15" dirty="0"/>
              <a:t> </a:t>
            </a:r>
            <a:r>
              <a:rPr spc="-10" dirty="0"/>
              <a:t>Objectives</a:t>
            </a:r>
          </a:p>
          <a:p>
            <a:pPr marL="12700">
              <a:lnSpc>
                <a:spcPct val="100000"/>
              </a:lnSpc>
              <a:spcBef>
                <a:spcPts val="715"/>
              </a:spcBef>
              <a:tabLst>
                <a:tab pos="356870" algn="l"/>
              </a:tabLst>
            </a:pPr>
            <a:r>
              <a:rPr sz="1000" b="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000" b="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300" dirty="0"/>
              <a:t>Analyze</a:t>
            </a:r>
            <a:r>
              <a:rPr sz="1300" spc="-50" dirty="0"/>
              <a:t> </a:t>
            </a:r>
            <a:r>
              <a:rPr sz="1300" spc="-10" dirty="0"/>
              <a:t>overall</a:t>
            </a:r>
            <a:r>
              <a:rPr sz="1300" spc="-20" dirty="0"/>
              <a:t> </a:t>
            </a:r>
            <a:r>
              <a:rPr sz="1300" dirty="0"/>
              <a:t>sales</a:t>
            </a:r>
            <a:r>
              <a:rPr sz="1300" spc="-30" dirty="0"/>
              <a:t> </a:t>
            </a:r>
            <a:r>
              <a:rPr sz="1300" spc="-10" dirty="0"/>
              <a:t>performance.</a:t>
            </a:r>
            <a:endParaRPr sz="13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56870" algn="l"/>
              </a:tabLst>
            </a:pPr>
            <a:r>
              <a:rPr sz="1000" b="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000" b="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300" b="0" dirty="0">
                <a:latin typeface="Trebuchet MS"/>
                <a:cs typeface="Trebuchet MS"/>
              </a:rPr>
              <a:t>Identify</a:t>
            </a:r>
            <a:r>
              <a:rPr sz="1300" b="0" spc="-35" dirty="0">
                <a:latin typeface="Trebuchet MS"/>
                <a:cs typeface="Trebuchet MS"/>
              </a:rPr>
              <a:t> </a:t>
            </a:r>
            <a:r>
              <a:rPr sz="1300" b="0" spc="-10" dirty="0">
                <a:latin typeface="Trebuchet MS"/>
                <a:cs typeface="Trebuchet MS"/>
              </a:rPr>
              <a:t>top-</a:t>
            </a:r>
            <a:r>
              <a:rPr sz="1300" b="0" dirty="0">
                <a:latin typeface="Trebuchet MS"/>
                <a:cs typeface="Trebuchet MS"/>
              </a:rPr>
              <a:t>selling</a:t>
            </a:r>
            <a:r>
              <a:rPr sz="1300" b="0" spc="-20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products</a:t>
            </a:r>
            <a:r>
              <a:rPr sz="1300" b="0" spc="-55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and</a:t>
            </a:r>
            <a:r>
              <a:rPr sz="1300" b="0" spc="-40" dirty="0">
                <a:latin typeface="Trebuchet MS"/>
                <a:cs typeface="Trebuchet MS"/>
              </a:rPr>
              <a:t> </a:t>
            </a:r>
            <a:r>
              <a:rPr sz="1300" b="0" spc="-10" dirty="0">
                <a:latin typeface="Trebuchet MS"/>
                <a:cs typeface="Trebuchet MS"/>
              </a:rPr>
              <a:t>categories.</a:t>
            </a:r>
            <a:endParaRPr sz="1300">
              <a:latin typeface="Trebuchet MS"/>
              <a:cs typeface="Trebuchet MS"/>
            </a:endParaRPr>
          </a:p>
          <a:p>
            <a:pPr marL="356870" marR="55244" indent="-344805">
              <a:lnSpc>
                <a:spcPct val="80000"/>
              </a:lnSpc>
              <a:spcBef>
                <a:spcPts val="1005"/>
              </a:spcBef>
              <a:tabLst>
                <a:tab pos="356870" algn="l"/>
              </a:tabLst>
            </a:pPr>
            <a:r>
              <a:rPr sz="1000" b="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000" b="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300" b="0" dirty="0">
                <a:latin typeface="Trebuchet MS"/>
                <a:cs typeface="Trebuchet MS"/>
              </a:rPr>
              <a:t>Understand</a:t>
            </a:r>
            <a:r>
              <a:rPr sz="1300" b="0" spc="-65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customer</a:t>
            </a:r>
            <a:r>
              <a:rPr sz="1300" b="0" spc="-75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purchasing</a:t>
            </a:r>
            <a:r>
              <a:rPr sz="1300" b="0" spc="-85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behavior</a:t>
            </a:r>
            <a:r>
              <a:rPr sz="1300" b="0" spc="-20" dirty="0">
                <a:latin typeface="Trebuchet MS"/>
                <a:cs typeface="Trebuchet MS"/>
              </a:rPr>
              <a:t> </a:t>
            </a:r>
            <a:r>
              <a:rPr sz="1300" b="0" spc="-10" dirty="0">
                <a:latin typeface="Trebuchet MS"/>
                <a:cs typeface="Trebuchet MS"/>
              </a:rPr>
              <a:t>based </a:t>
            </a:r>
            <a:r>
              <a:rPr sz="1300" b="0" dirty="0">
                <a:latin typeface="Trebuchet MS"/>
                <a:cs typeface="Trebuchet MS"/>
              </a:rPr>
              <a:t>on</a:t>
            </a:r>
            <a:r>
              <a:rPr sz="1300" b="0" spc="-45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age,</a:t>
            </a:r>
            <a:r>
              <a:rPr sz="1300" b="0" spc="-30" dirty="0">
                <a:latin typeface="Trebuchet MS"/>
                <a:cs typeface="Trebuchet MS"/>
              </a:rPr>
              <a:t> </a:t>
            </a:r>
            <a:r>
              <a:rPr sz="1300" b="0" spc="-25" dirty="0">
                <a:latin typeface="Trebuchet MS"/>
                <a:cs typeface="Trebuchet MS"/>
              </a:rPr>
              <a:t>gender,</a:t>
            </a:r>
            <a:r>
              <a:rPr sz="1300" b="0" spc="-5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and</a:t>
            </a:r>
            <a:r>
              <a:rPr sz="1300" b="0" spc="-55" dirty="0">
                <a:latin typeface="Trebuchet MS"/>
                <a:cs typeface="Trebuchet MS"/>
              </a:rPr>
              <a:t> </a:t>
            </a:r>
            <a:r>
              <a:rPr sz="1300" b="0" spc="-20" dirty="0">
                <a:latin typeface="Trebuchet MS"/>
                <a:cs typeface="Trebuchet MS"/>
              </a:rPr>
              <a:t>city.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356870" algn="l"/>
              </a:tabLst>
            </a:pPr>
            <a:r>
              <a:rPr sz="1000" b="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000" b="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300" b="0" dirty="0">
                <a:latin typeface="Trebuchet MS"/>
                <a:cs typeface="Trebuchet MS"/>
              </a:rPr>
              <a:t>Analyze</a:t>
            </a:r>
            <a:r>
              <a:rPr sz="1300" b="0" spc="-65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sales</a:t>
            </a:r>
            <a:r>
              <a:rPr sz="1300" b="0" spc="-15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trends</a:t>
            </a:r>
            <a:r>
              <a:rPr sz="1300" b="0" spc="-55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over</a:t>
            </a:r>
            <a:r>
              <a:rPr sz="1300" b="0" spc="-15" dirty="0">
                <a:latin typeface="Trebuchet MS"/>
                <a:cs typeface="Trebuchet MS"/>
              </a:rPr>
              <a:t> </a:t>
            </a:r>
            <a:r>
              <a:rPr sz="1300" b="0" spc="-20" dirty="0">
                <a:latin typeface="Trebuchet MS"/>
                <a:cs typeface="Trebuchet MS"/>
              </a:rPr>
              <a:t>time.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405"/>
              </a:lnSpc>
              <a:spcBef>
                <a:spcPts val="670"/>
              </a:spcBef>
              <a:tabLst>
                <a:tab pos="356870" algn="l"/>
              </a:tabLst>
            </a:pPr>
            <a:r>
              <a:rPr sz="1000" b="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000" b="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300" b="0" dirty="0">
                <a:latin typeface="Trebuchet MS"/>
                <a:cs typeface="Trebuchet MS"/>
              </a:rPr>
              <a:t>Compare</a:t>
            </a:r>
            <a:r>
              <a:rPr sz="1300" b="0" spc="-40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sales</a:t>
            </a:r>
            <a:r>
              <a:rPr sz="1300" b="0" spc="-50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performance</a:t>
            </a:r>
            <a:r>
              <a:rPr sz="1300" b="0" spc="-60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across</a:t>
            </a:r>
            <a:r>
              <a:rPr sz="1300" b="0" spc="-65" dirty="0">
                <a:latin typeface="Trebuchet MS"/>
                <a:cs typeface="Trebuchet MS"/>
              </a:rPr>
              <a:t> </a:t>
            </a:r>
            <a:r>
              <a:rPr sz="1300" b="0" spc="-10" dirty="0">
                <a:latin typeface="Trebuchet MS"/>
                <a:cs typeface="Trebuchet MS"/>
              </a:rPr>
              <a:t>different</a:t>
            </a:r>
            <a:endParaRPr sz="1300">
              <a:latin typeface="Trebuchet MS"/>
              <a:cs typeface="Trebuchet MS"/>
            </a:endParaRPr>
          </a:p>
          <a:p>
            <a:pPr marL="356870">
              <a:lnSpc>
                <a:spcPts val="1405"/>
              </a:lnSpc>
            </a:pPr>
            <a:r>
              <a:rPr sz="1300" b="0" spc="-10" dirty="0">
                <a:latin typeface="Trebuchet MS"/>
                <a:cs typeface="Trebuchet MS"/>
              </a:rPr>
              <a:t>cities.</a:t>
            </a:r>
            <a:endParaRPr sz="1300">
              <a:latin typeface="Trebuchet MS"/>
              <a:cs typeface="Trebuchet MS"/>
            </a:endParaRPr>
          </a:p>
          <a:p>
            <a:pPr marL="356870" marR="254635" indent="-344805">
              <a:lnSpc>
                <a:spcPct val="80000"/>
              </a:lnSpc>
              <a:spcBef>
                <a:spcPts val="1015"/>
              </a:spcBef>
              <a:tabLst>
                <a:tab pos="356870" algn="l"/>
              </a:tabLst>
            </a:pPr>
            <a:r>
              <a:rPr sz="1000" b="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000" b="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300" b="0" dirty="0">
                <a:latin typeface="Trebuchet MS"/>
                <a:cs typeface="Trebuchet MS"/>
              </a:rPr>
              <a:t>Generate</a:t>
            </a:r>
            <a:r>
              <a:rPr sz="1300" b="0" spc="-30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business</a:t>
            </a:r>
            <a:r>
              <a:rPr sz="1300" b="0" spc="-35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insights</a:t>
            </a:r>
            <a:r>
              <a:rPr sz="1300" b="0" spc="-40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using</a:t>
            </a:r>
            <a:r>
              <a:rPr sz="1300" b="0" spc="-60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Python,</a:t>
            </a:r>
            <a:r>
              <a:rPr sz="1300" b="0" spc="-60" dirty="0">
                <a:latin typeface="Trebuchet MS"/>
                <a:cs typeface="Trebuchet MS"/>
              </a:rPr>
              <a:t> </a:t>
            </a:r>
            <a:r>
              <a:rPr sz="1300" b="0" spc="-20" dirty="0">
                <a:latin typeface="Trebuchet MS"/>
                <a:cs typeface="Trebuchet MS"/>
              </a:rPr>
              <a:t>SQL, </a:t>
            </a:r>
            <a:r>
              <a:rPr sz="1300" b="0" dirty="0">
                <a:latin typeface="Trebuchet MS"/>
                <a:cs typeface="Trebuchet MS"/>
              </a:rPr>
              <a:t>and</a:t>
            </a:r>
            <a:r>
              <a:rPr sz="1300" b="0" spc="-45" dirty="0">
                <a:latin typeface="Trebuchet MS"/>
                <a:cs typeface="Trebuchet MS"/>
              </a:rPr>
              <a:t> </a:t>
            </a:r>
            <a:r>
              <a:rPr sz="1300" b="0" spc="-10" dirty="0">
                <a:latin typeface="Trebuchet MS"/>
                <a:cs typeface="Trebuchet MS"/>
              </a:rPr>
              <a:t>Power</a:t>
            </a:r>
            <a:r>
              <a:rPr sz="1300" b="0" spc="-35" dirty="0">
                <a:latin typeface="Trebuchet MS"/>
                <a:cs typeface="Trebuchet MS"/>
              </a:rPr>
              <a:t> </a:t>
            </a:r>
            <a:r>
              <a:rPr sz="1300" b="0" spc="-25" dirty="0">
                <a:latin typeface="Trebuchet MS"/>
                <a:cs typeface="Trebuchet MS"/>
              </a:rPr>
              <a:t>BI.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405"/>
              </a:lnSpc>
              <a:spcBef>
                <a:spcPts val="695"/>
              </a:spcBef>
              <a:tabLst>
                <a:tab pos="356870" algn="l"/>
              </a:tabLst>
            </a:pPr>
            <a:r>
              <a:rPr sz="1000" b="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000" b="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300" b="0" spc="-10" dirty="0">
                <a:latin typeface="Trebuchet MS"/>
                <a:cs typeface="Trebuchet MS"/>
              </a:rPr>
              <a:t>Provide</a:t>
            </a:r>
            <a:r>
              <a:rPr sz="1300" b="0" spc="-5" dirty="0">
                <a:latin typeface="Trebuchet MS"/>
                <a:cs typeface="Trebuchet MS"/>
              </a:rPr>
              <a:t> </a:t>
            </a:r>
            <a:r>
              <a:rPr sz="1300" b="0" spc="-10" dirty="0">
                <a:latin typeface="Trebuchet MS"/>
                <a:cs typeface="Trebuchet MS"/>
              </a:rPr>
              <a:t>recommendations</a:t>
            </a:r>
            <a:r>
              <a:rPr sz="1300" b="0" spc="-5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to</a:t>
            </a:r>
            <a:r>
              <a:rPr sz="1300" b="0" spc="-50" dirty="0">
                <a:latin typeface="Trebuchet MS"/>
                <a:cs typeface="Trebuchet MS"/>
              </a:rPr>
              <a:t> </a:t>
            </a:r>
            <a:r>
              <a:rPr sz="1300" b="0" dirty="0">
                <a:latin typeface="Trebuchet MS"/>
                <a:cs typeface="Trebuchet MS"/>
              </a:rPr>
              <a:t>improve </a:t>
            </a:r>
            <a:r>
              <a:rPr sz="1300" b="0" spc="-10" dirty="0">
                <a:latin typeface="Trebuchet MS"/>
                <a:cs typeface="Trebuchet MS"/>
              </a:rPr>
              <a:t>sales</a:t>
            </a:r>
            <a:endParaRPr sz="1300">
              <a:latin typeface="Trebuchet MS"/>
              <a:cs typeface="Trebuchet MS"/>
            </a:endParaRPr>
          </a:p>
          <a:p>
            <a:pPr marL="356870">
              <a:lnSpc>
                <a:spcPts val="1405"/>
              </a:lnSpc>
            </a:pPr>
            <a:r>
              <a:rPr sz="1300" b="0" spc="-10" dirty="0">
                <a:latin typeface="Trebuchet MS"/>
                <a:cs typeface="Trebuchet MS"/>
              </a:rPr>
              <a:t>performance</a:t>
            </a:r>
            <a:r>
              <a:rPr sz="1000" b="0" spc="-10" dirty="0">
                <a:latin typeface="Trebuchet MS"/>
                <a:cs typeface="Trebuchet MS"/>
              </a:rPr>
              <a:t>.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15609" y="1791233"/>
            <a:ext cx="3973829" cy="259207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700" b="1" dirty="0">
                <a:solidFill>
                  <a:srgbClr val="FFFFFF"/>
                </a:solidFill>
                <a:latin typeface="Trebuchet MS"/>
                <a:cs typeface="Trebuchet MS"/>
              </a:rPr>
              <a:t>Why</a:t>
            </a:r>
            <a:r>
              <a:rPr sz="17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Trebuchet MS"/>
                <a:cs typeface="Trebuchet MS"/>
              </a:rPr>
              <a:t>This</a:t>
            </a:r>
            <a:r>
              <a:rPr sz="1700" b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Trebuchet MS"/>
                <a:cs typeface="Trebuchet MS"/>
              </a:rPr>
              <a:t>Analysis</a:t>
            </a:r>
            <a:r>
              <a:rPr sz="1700" b="1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17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Trebuchet MS"/>
                <a:cs typeface="Trebuchet MS"/>
              </a:rPr>
              <a:t>Important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  <a:tabLst>
                <a:tab pos="356870" algn="l"/>
              </a:tabLst>
            </a:pPr>
            <a:r>
              <a:rPr sz="10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0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Improve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overall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sales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revenue.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356870" algn="l"/>
              </a:tabLst>
            </a:pPr>
            <a:r>
              <a:rPr sz="10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0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Understand</a:t>
            </a:r>
            <a:r>
              <a:rPr sz="13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customer</a:t>
            </a:r>
            <a:r>
              <a:rPr sz="13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buying</a:t>
            </a:r>
            <a:r>
              <a:rPr sz="13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patterns.</a:t>
            </a:r>
            <a:endParaRPr sz="1300">
              <a:latin typeface="Trebuchet MS"/>
              <a:cs typeface="Trebuchet MS"/>
            </a:endParaRPr>
          </a:p>
          <a:p>
            <a:pPr marL="356870" marR="493395" indent="-344805">
              <a:lnSpc>
                <a:spcPts val="1250"/>
              </a:lnSpc>
              <a:spcBef>
                <a:spcPts val="1000"/>
              </a:spcBef>
              <a:tabLst>
                <a:tab pos="356870" algn="l"/>
              </a:tabLst>
            </a:pPr>
            <a:r>
              <a:rPr sz="10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0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Identify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best-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performing</a:t>
            </a:r>
            <a:r>
              <a:rPr sz="13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products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categories.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356870" algn="l"/>
              </a:tabLst>
            </a:pPr>
            <a:r>
              <a:rPr sz="10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0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Support</a:t>
            </a:r>
            <a:r>
              <a:rPr sz="13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better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inventory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planning.</a:t>
            </a:r>
            <a:endParaRPr sz="1300">
              <a:latin typeface="Trebuchet MS"/>
              <a:cs typeface="Trebuchet MS"/>
            </a:endParaRPr>
          </a:p>
          <a:p>
            <a:pPr marL="356870" marR="250190" indent="-344805">
              <a:lnSpc>
                <a:spcPts val="1250"/>
              </a:lnSpc>
              <a:spcBef>
                <a:spcPts val="994"/>
              </a:spcBef>
              <a:tabLst>
                <a:tab pos="356870" algn="l"/>
              </a:tabLst>
            </a:pPr>
            <a:r>
              <a:rPr sz="10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0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Help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make</a:t>
            </a:r>
            <a:r>
              <a:rPr sz="13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data-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driven</a:t>
            </a:r>
            <a:r>
              <a:rPr sz="130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business decisions.</a:t>
            </a:r>
            <a:endParaRPr sz="1300">
              <a:latin typeface="Trebuchet MS"/>
              <a:cs typeface="Trebuchet MS"/>
            </a:endParaRPr>
          </a:p>
          <a:p>
            <a:pPr marL="356870" marR="5080" indent="-344805">
              <a:lnSpc>
                <a:spcPts val="1250"/>
              </a:lnSpc>
              <a:spcBef>
                <a:spcPts val="1010"/>
              </a:spcBef>
              <a:tabLst>
                <a:tab pos="356870" algn="l"/>
              </a:tabLst>
            </a:pPr>
            <a:r>
              <a:rPr sz="10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0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Improve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marketing</a:t>
            </a:r>
            <a:r>
              <a:rPr sz="13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strategies</a:t>
            </a:r>
            <a:r>
              <a:rPr sz="13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sz="13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sz="13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customer insights.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18175" cy="6858000"/>
          </a:xfrm>
          <a:custGeom>
            <a:avLst/>
            <a:gdLst/>
            <a:ahLst/>
            <a:cxnLst/>
            <a:rect l="l" t="t" r="r" b="b"/>
            <a:pathLst>
              <a:path w="5718175" h="6858000">
                <a:moveTo>
                  <a:pt x="5718048" y="0"/>
                </a:moveTo>
                <a:lnTo>
                  <a:pt x="4660392" y="0"/>
                </a:lnTo>
                <a:lnTo>
                  <a:pt x="0" y="0"/>
                </a:lnTo>
                <a:lnTo>
                  <a:pt x="0" y="6858000"/>
                </a:lnTo>
                <a:lnTo>
                  <a:pt x="4660392" y="6858000"/>
                </a:lnTo>
                <a:lnTo>
                  <a:pt x="5718048" y="0"/>
                </a:lnTo>
                <a:close/>
              </a:path>
            </a:pathLst>
          </a:custGeom>
          <a:solidFill>
            <a:srgbClr val="2C3B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52652" y="1032459"/>
            <a:ext cx="3796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rebuchet MS"/>
                <a:cs typeface="Trebuchet MS"/>
              </a:rPr>
              <a:t>Dataset</a:t>
            </a:r>
            <a:r>
              <a:rPr sz="3600" b="1" spc="-45" dirty="0">
                <a:latin typeface="Trebuchet MS"/>
                <a:cs typeface="Trebuchet MS"/>
              </a:rPr>
              <a:t> </a:t>
            </a:r>
            <a:r>
              <a:rPr sz="3600" b="1" spc="-10" dirty="0">
                <a:latin typeface="Trebuchet MS"/>
                <a:cs typeface="Trebuchet MS"/>
              </a:rPr>
              <a:t>Overview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2652" y="2160854"/>
            <a:ext cx="182498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Dataset</a:t>
            </a:r>
            <a:r>
              <a:rPr sz="1800" b="1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Features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33602" y="2567462"/>
          <a:ext cx="1597660" cy="3383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3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950" spc="40" dirty="0">
                          <a:solidFill>
                            <a:srgbClr val="90C225"/>
                          </a:solidFill>
                          <a:latin typeface="Lucida Sans Unicode"/>
                          <a:cs typeface="Lucida Sans Unicode"/>
                        </a:rPr>
                        <a:t>▶</a:t>
                      </a:r>
                      <a:endParaRPr sz="950">
                        <a:latin typeface="Lucida Sans Unicode"/>
                        <a:cs typeface="Lucida Sans Unicode"/>
                      </a:endParaRPr>
                    </a:p>
                  </a:txBody>
                  <a:tcPr marL="0" marR="0" marT="22225" marB="0">
                    <a:solidFill>
                      <a:srgbClr val="2C3B43"/>
                    </a:solidFill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ts val="1365"/>
                        </a:lnSpc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Order_ID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2C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950" spc="40" dirty="0">
                          <a:solidFill>
                            <a:srgbClr val="90C225"/>
                          </a:solidFill>
                          <a:latin typeface="Lucida Sans Unicode"/>
                          <a:cs typeface="Lucida Sans Unicode"/>
                        </a:rPr>
                        <a:t>▶</a:t>
                      </a:r>
                      <a:endParaRPr sz="950">
                        <a:latin typeface="Lucida Sans Unicode"/>
                        <a:cs typeface="Lucida Sans Unicode"/>
                      </a:endParaRPr>
                    </a:p>
                  </a:txBody>
                  <a:tcPr marL="0" marR="0" marT="80010" marB="0">
                    <a:solidFill>
                      <a:srgbClr val="2C3B43"/>
                    </a:solidFill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Order_Date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8260" marB="0">
                    <a:solidFill>
                      <a:srgbClr val="2C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8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950" spc="40" dirty="0">
                          <a:solidFill>
                            <a:srgbClr val="90C225"/>
                          </a:solidFill>
                          <a:latin typeface="Lucida Sans Unicode"/>
                          <a:cs typeface="Lucida Sans Unicode"/>
                        </a:rPr>
                        <a:t>▶</a:t>
                      </a:r>
                      <a:endParaRPr sz="950">
                        <a:latin typeface="Lucida Sans Unicode"/>
                        <a:cs typeface="Lucida Sans Unicode"/>
                      </a:endParaRPr>
                    </a:p>
                  </a:txBody>
                  <a:tcPr marL="0" marR="0" marT="80010" marB="0">
                    <a:solidFill>
                      <a:srgbClr val="2C3B43"/>
                    </a:solidFill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Customer_ID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8260" marB="0">
                    <a:solidFill>
                      <a:srgbClr val="2C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8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950" spc="40" dirty="0">
                          <a:solidFill>
                            <a:srgbClr val="90C225"/>
                          </a:solidFill>
                          <a:latin typeface="Lucida Sans Unicode"/>
                          <a:cs typeface="Lucida Sans Unicode"/>
                        </a:rPr>
                        <a:t>▶</a:t>
                      </a:r>
                      <a:endParaRPr sz="950">
                        <a:latin typeface="Lucida Sans Unicode"/>
                        <a:cs typeface="Lucida Sans Unicode"/>
                      </a:endParaRPr>
                    </a:p>
                  </a:txBody>
                  <a:tcPr marL="0" marR="0" marT="78740" marB="0">
                    <a:solidFill>
                      <a:srgbClr val="2C3B43"/>
                    </a:solidFill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Customer_Name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6990" marB="0">
                    <a:solidFill>
                      <a:srgbClr val="2C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950" spc="40" dirty="0">
                          <a:solidFill>
                            <a:srgbClr val="90C225"/>
                          </a:solidFill>
                          <a:latin typeface="Lucida Sans Unicode"/>
                          <a:cs typeface="Lucida Sans Unicode"/>
                        </a:rPr>
                        <a:t>▶</a:t>
                      </a:r>
                      <a:endParaRPr sz="950">
                        <a:latin typeface="Lucida Sans Unicode"/>
                        <a:cs typeface="Lucida Sans Unicode"/>
                      </a:endParaRPr>
                    </a:p>
                  </a:txBody>
                  <a:tcPr marL="0" marR="0" marT="80010" marB="0">
                    <a:solidFill>
                      <a:srgbClr val="2C3B43"/>
                    </a:solidFill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00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Age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8260" marB="0">
                    <a:solidFill>
                      <a:srgbClr val="2C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8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950" spc="40" dirty="0">
                          <a:solidFill>
                            <a:srgbClr val="90C225"/>
                          </a:solidFill>
                          <a:latin typeface="Lucida Sans Unicode"/>
                          <a:cs typeface="Lucida Sans Unicode"/>
                        </a:rPr>
                        <a:t>▶</a:t>
                      </a:r>
                      <a:endParaRPr sz="950">
                        <a:latin typeface="Lucida Sans Unicode"/>
                        <a:cs typeface="Lucida Sans Unicode"/>
                      </a:endParaRPr>
                    </a:p>
                  </a:txBody>
                  <a:tcPr marL="0" marR="0" marT="80010" marB="0">
                    <a:solidFill>
                      <a:srgbClr val="2C3B43"/>
                    </a:solidFill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Gender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8260" marB="0">
                    <a:solidFill>
                      <a:srgbClr val="2C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8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950" spc="40" dirty="0">
                          <a:solidFill>
                            <a:srgbClr val="90C225"/>
                          </a:solidFill>
                          <a:latin typeface="Lucida Sans Unicode"/>
                          <a:cs typeface="Lucida Sans Unicode"/>
                        </a:rPr>
                        <a:t>▶</a:t>
                      </a:r>
                      <a:endParaRPr sz="950">
                        <a:latin typeface="Lucida Sans Unicode"/>
                        <a:cs typeface="Lucida Sans Unicode"/>
                      </a:endParaRPr>
                    </a:p>
                  </a:txBody>
                  <a:tcPr marL="0" marR="0" marT="78740" marB="0">
                    <a:solidFill>
                      <a:srgbClr val="2C3B43"/>
                    </a:solidFill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City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6990" marB="0">
                    <a:solidFill>
                      <a:srgbClr val="2C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950" spc="40" dirty="0">
                          <a:solidFill>
                            <a:srgbClr val="90C225"/>
                          </a:solidFill>
                          <a:latin typeface="Lucida Sans Unicode"/>
                          <a:cs typeface="Lucida Sans Unicode"/>
                        </a:rPr>
                        <a:t>▶</a:t>
                      </a:r>
                      <a:endParaRPr sz="950">
                        <a:latin typeface="Lucida Sans Unicode"/>
                        <a:cs typeface="Lucida Sans Unicode"/>
                      </a:endParaRPr>
                    </a:p>
                  </a:txBody>
                  <a:tcPr marL="0" marR="0" marT="80010" marB="0">
                    <a:solidFill>
                      <a:srgbClr val="2C3B43"/>
                    </a:solidFill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Product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8260" marB="0">
                    <a:solidFill>
                      <a:srgbClr val="2C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8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950" spc="40" dirty="0">
                          <a:solidFill>
                            <a:srgbClr val="90C225"/>
                          </a:solidFill>
                          <a:latin typeface="Lucida Sans Unicode"/>
                          <a:cs typeface="Lucida Sans Unicode"/>
                        </a:rPr>
                        <a:t>▶</a:t>
                      </a:r>
                      <a:endParaRPr sz="950">
                        <a:latin typeface="Lucida Sans Unicode"/>
                        <a:cs typeface="Lucida Sans Unicode"/>
                      </a:endParaRPr>
                    </a:p>
                  </a:txBody>
                  <a:tcPr marL="0" marR="0" marT="80010" marB="0">
                    <a:solidFill>
                      <a:srgbClr val="2C3B43"/>
                    </a:solidFill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Category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8260" marB="0">
                    <a:solidFill>
                      <a:srgbClr val="2C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8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950" spc="40" dirty="0">
                          <a:solidFill>
                            <a:srgbClr val="90C225"/>
                          </a:solidFill>
                          <a:latin typeface="Lucida Sans Unicode"/>
                          <a:cs typeface="Lucida Sans Unicode"/>
                        </a:rPr>
                        <a:t>▶</a:t>
                      </a:r>
                      <a:endParaRPr sz="950">
                        <a:latin typeface="Lucida Sans Unicode"/>
                        <a:cs typeface="Lucida Sans Unicode"/>
                      </a:endParaRPr>
                    </a:p>
                  </a:txBody>
                  <a:tcPr marL="0" marR="0" marT="78740" marB="0">
                    <a:solidFill>
                      <a:srgbClr val="2C3B43"/>
                    </a:solidFill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Quantity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6990" marB="0">
                    <a:solidFill>
                      <a:srgbClr val="2C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950" spc="40" dirty="0">
                          <a:solidFill>
                            <a:srgbClr val="90C225"/>
                          </a:solidFill>
                          <a:latin typeface="Lucida Sans Unicode"/>
                          <a:cs typeface="Lucida Sans Unicode"/>
                        </a:rPr>
                        <a:t>▶</a:t>
                      </a:r>
                      <a:endParaRPr sz="950">
                        <a:latin typeface="Lucida Sans Unicode"/>
                        <a:cs typeface="Lucida Sans Unicode"/>
                      </a:endParaRPr>
                    </a:p>
                  </a:txBody>
                  <a:tcPr marL="0" marR="0" marT="80010" marB="0">
                    <a:solidFill>
                      <a:srgbClr val="2C3B43"/>
                    </a:solidFill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Unit_Price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8260" marB="0">
                    <a:solidFill>
                      <a:srgbClr val="2C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950">
                <a:tc>
                  <a:txBody>
                    <a:bodyPr/>
                    <a:lstStyle/>
                    <a:p>
                      <a:pPr marL="31750">
                        <a:lnSpc>
                          <a:spcPts val="1115"/>
                        </a:lnSpc>
                        <a:spcBef>
                          <a:spcPts val="630"/>
                        </a:spcBef>
                      </a:pPr>
                      <a:r>
                        <a:rPr sz="950" spc="40" dirty="0">
                          <a:solidFill>
                            <a:srgbClr val="90C225"/>
                          </a:solidFill>
                          <a:latin typeface="Lucida Sans Unicode"/>
                          <a:cs typeface="Lucida Sans Unicode"/>
                        </a:rPr>
                        <a:t>▶</a:t>
                      </a:r>
                      <a:endParaRPr sz="950">
                        <a:latin typeface="Lucida Sans Unicode"/>
                        <a:cs typeface="Lucida Sans Unicode"/>
                      </a:endParaRPr>
                    </a:p>
                  </a:txBody>
                  <a:tcPr marL="0" marR="0" marT="80010" marB="0">
                    <a:solidFill>
                      <a:srgbClr val="2C3B43"/>
                    </a:solidFill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ts val="1365"/>
                        </a:lnSpc>
                        <a:spcBef>
                          <a:spcPts val="380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Total_Sales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8260" marB="0">
                    <a:solidFill>
                      <a:srgbClr val="2C3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11756135" y="4091597"/>
            <a:ext cx="436245" cy="2766695"/>
          </a:xfrm>
          <a:custGeom>
            <a:avLst/>
            <a:gdLst/>
            <a:ahLst/>
            <a:cxnLst/>
            <a:rect l="l" t="t" r="r" b="b"/>
            <a:pathLst>
              <a:path w="436245" h="2766695">
                <a:moveTo>
                  <a:pt x="435864" y="0"/>
                </a:moveTo>
                <a:lnTo>
                  <a:pt x="0" y="2766402"/>
                </a:lnTo>
                <a:lnTo>
                  <a:pt x="435864" y="2766402"/>
                </a:lnTo>
                <a:lnTo>
                  <a:pt x="435864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271133" y="953516"/>
          <a:ext cx="4869815" cy="490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9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1015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Attribute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2890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Value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28905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Dataset</a:t>
                      </a:r>
                      <a:r>
                        <a:rPr sz="16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Name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996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olid"/>
                    </a:lnR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 marR="62674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ApexPlanet_Data Analytics_Dataset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99695" marB="0">
                    <a:lnL w="6350">
                      <a:solidFill>
                        <a:srgbClr val="7E7E7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marL="136525" marR="918844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Number</a:t>
                      </a:r>
                      <a:r>
                        <a:rPr sz="16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of 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Records(Rows)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99695" marB="0">
                    <a:lnL w="6350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600" spc="-20" dirty="0">
                          <a:latin typeface="Trebuchet MS"/>
                          <a:cs typeface="Trebuchet MS"/>
                        </a:rPr>
                        <a:t>1001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99695" marB="0">
                    <a:lnL w="6350">
                      <a:solidFill>
                        <a:srgbClr val="7E7E7E"/>
                      </a:solidFill>
                      <a:prstDash val="solid"/>
                    </a:lnL>
                    <a:lnT w="6350">
                      <a:solidFill>
                        <a:srgbClr val="7E7E7E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marL="136525" marR="52006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Number</a:t>
                      </a:r>
                      <a:r>
                        <a:rPr sz="16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of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Features(Columns)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003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olid"/>
                    </a:lnR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12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00330" marB="0">
                    <a:lnL w="6350">
                      <a:solidFill>
                        <a:srgbClr val="7E7E7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sz="16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Type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00330" marB="0">
                    <a:lnL w="6350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Sales</a:t>
                      </a:r>
                      <a:r>
                        <a:rPr sz="16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Transaction</a:t>
                      </a:r>
                      <a:r>
                        <a:rPr sz="16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Data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00330" marB="0">
                    <a:lnL w="6350">
                      <a:solidFill>
                        <a:srgbClr val="7E7E7E"/>
                      </a:solidFill>
                      <a:prstDash val="solid"/>
                    </a:lnL>
                    <a:lnT w="6350">
                      <a:solidFill>
                        <a:srgbClr val="7E7E7E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Missing</a:t>
                      </a:r>
                      <a:r>
                        <a:rPr sz="16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Values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00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olid"/>
                    </a:lnR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No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Missing</a:t>
                      </a:r>
                      <a:r>
                        <a:rPr sz="16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Values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00965" marB="0">
                    <a:lnL w="6350">
                      <a:solidFill>
                        <a:srgbClr val="7E7E7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Duplicate</a:t>
                      </a:r>
                      <a:r>
                        <a:rPr sz="16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Records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00965" marB="0">
                    <a:lnL w="6350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Checked</a:t>
                      </a:r>
                      <a:r>
                        <a:rPr sz="16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 removed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during</a:t>
                      </a:r>
                      <a:r>
                        <a:rPr sz="16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preprocessing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00965" marB="0">
                    <a:lnL w="6350">
                      <a:solidFill>
                        <a:srgbClr val="7E7E7E"/>
                      </a:solidFill>
                      <a:prstDash val="solid"/>
                    </a:lnL>
                    <a:lnT w="6350">
                      <a:solidFill>
                        <a:srgbClr val="7E7E7E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Target</a:t>
                      </a:r>
                      <a:r>
                        <a:rPr sz="16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Variable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00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Total_Sales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00965" marB="0">
                    <a:lnL w="6350">
                      <a:solidFill>
                        <a:srgbClr val="7E7E7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" y="3285744"/>
            <a:ext cx="4184904" cy="320954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29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dirty="0">
                <a:solidFill>
                  <a:srgbClr val="90C225"/>
                </a:solidFill>
              </a:rPr>
              <a:t>Data</a:t>
            </a:r>
            <a:r>
              <a:rPr sz="3200" spc="-50" dirty="0">
                <a:solidFill>
                  <a:srgbClr val="90C225"/>
                </a:solidFill>
              </a:rPr>
              <a:t> </a:t>
            </a:r>
            <a:r>
              <a:rPr sz="3200" dirty="0">
                <a:solidFill>
                  <a:srgbClr val="90C225"/>
                </a:solidFill>
              </a:rPr>
              <a:t>Cleaning</a:t>
            </a:r>
            <a:r>
              <a:rPr sz="3200" spc="-65" dirty="0">
                <a:solidFill>
                  <a:srgbClr val="90C225"/>
                </a:solidFill>
              </a:rPr>
              <a:t> </a:t>
            </a:r>
            <a:r>
              <a:rPr sz="3200" dirty="0">
                <a:solidFill>
                  <a:srgbClr val="90C225"/>
                </a:solidFill>
              </a:rPr>
              <a:t>&amp;</a:t>
            </a:r>
            <a:r>
              <a:rPr sz="3200" spc="-55" dirty="0">
                <a:solidFill>
                  <a:srgbClr val="90C225"/>
                </a:solidFill>
              </a:rPr>
              <a:t> </a:t>
            </a:r>
            <a:r>
              <a:rPr sz="3200" spc="-10" dirty="0">
                <a:solidFill>
                  <a:srgbClr val="90C225"/>
                </a:solidFill>
              </a:rPr>
              <a:t>Preprocessing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756310" y="1612773"/>
            <a:ext cx="2614295" cy="837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90C225"/>
                </a:solidFill>
                <a:latin typeface="Trebuchet MS"/>
                <a:cs typeface="Trebuchet MS"/>
              </a:rPr>
              <a:t>Data</a:t>
            </a:r>
            <a:r>
              <a:rPr sz="2000" b="1" spc="-6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90C225"/>
                </a:solidFill>
                <a:latin typeface="Trebuchet MS"/>
                <a:cs typeface="Trebuchet MS"/>
              </a:rPr>
              <a:t>Cleaning</a:t>
            </a:r>
            <a:r>
              <a:rPr sz="2000" b="1" spc="-6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90C225"/>
                </a:solidFill>
                <a:latin typeface="Trebuchet MS"/>
                <a:cs typeface="Trebuchet MS"/>
              </a:rPr>
              <a:t>Process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90C225"/>
                </a:solidFill>
                <a:latin typeface="Segoe UI Symbol"/>
                <a:cs typeface="Segoe UI Symbol"/>
              </a:rPr>
              <a:t>✔</a:t>
            </a:r>
            <a:r>
              <a:rPr sz="1100" spc="20" dirty="0">
                <a:solidFill>
                  <a:srgbClr val="90C225"/>
                </a:solidFill>
                <a:latin typeface="Segoe UI Symbol"/>
                <a:cs typeface="Segoe UI Symbol"/>
              </a:rPr>
              <a:t> </a:t>
            </a:r>
            <a:r>
              <a:rPr sz="1100" b="1" dirty="0">
                <a:solidFill>
                  <a:srgbClr val="90C225"/>
                </a:solidFill>
                <a:latin typeface="Trebuchet MS"/>
                <a:cs typeface="Trebuchet MS"/>
              </a:rPr>
              <a:t>Checked</a:t>
            </a:r>
            <a:r>
              <a:rPr sz="1100" b="1" spc="-1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90C225"/>
                </a:solidFill>
                <a:latin typeface="Trebuchet MS"/>
                <a:cs typeface="Trebuchet MS"/>
              </a:rPr>
              <a:t>missing</a:t>
            </a:r>
            <a:r>
              <a:rPr sz="1100" b="1" spc="-3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90C225"/>
                </a:solidFill>
                <a:latin typeface="Trebuchet MS"/>
                <a:cs typeface="Trebuchet MS"/>
              </a:rPr>
              <a:t>values</a:t>
            </a:r>
            <a:endParaRPr sz="1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90C225"/>
                </a:solidFill>
                <a:latin typeface="Segoe UI Symbol"/>
                <a:cs typeface="Segoe UI Symbol"/>
              </a:rPr>
              <a:t>✔ </a:t>
            </a:r>
            <a:r>
              <a:rPr sz="1100" b="1" dirty="0">
                <a:solidFill>
                  <a:srgbClr val="90C225"/>
                </a:solidFill>
                <a:latin typeface="Trebuchet MS"/>
                <a:cs typeface="Trebuchet MS"/>
              </a:rPr>
              <a:t>Removed</a:t>
            </a:r>
            <a:r>
              <a:rPr sz="1100" b="1" spc="-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90C225"/>
                </a:solidFill>
                <a:latin typeface="Trebuchet MS"/>
                <a:cs typeface="Trebuchet MS"/>
              </a:rPr>
              <a:t>unnecessary</a:t>
            </a:r>
            <a:r>
              <a:rPr sz="1100" b="1" spc="-4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90C225"/>
                </a:solidFill>
                <a:latin typeface="Trebuchet MS"/>
                <a:cs typeface="Trebuchet MS"/>
              </a:rPr>
              <a:t>spaces</a:t>
            </a:r>
            <a:endParaRPr sz="1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90C225"/>
                </a:solidFill>
                <a:latin typeface="Segoe UI Symbol"/>
                <a:cs typeface="Segoe UI Symbol"/>
              </a:rPr>
              <a:t>✔</a:t>
            </a:r>
            <a:r>
              <a:rPr sz="1100" spc="15" dirty="0">
                <a:solidFill>
                  <a:srgbClr val="90C225"/>
                </a:solidFill>
                <a:latin typeface="Segoe UI Symbol"/>
                <a:cs typeface="Segoe UI Symbol"/>
              </a:rPr>
              <a:t> </a:t>
            </a:r>
            <a:r>
              <a:rPr sz="1100" b="1" dirty="0">
                <a:solidFill>
                  <a:srgbClr val="90C225"/>
                </a:solidFill>
                <a:latin typeface="Trebuchet MS"/>
                <a:cs typeface="Trebuchet MS"/>
              </a:rPr>
              <a:t>Converted</a:t>
            </a:r>
            <a:r>
              <a:rPr sz="1100" b="1" spc="1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90C225"/>
                </a:solidFill>
                <a:latin typeface="Trebuchet MS"/>
                <a:cs typeface="Trebuchet MS"/>
              </a:rPr>
              <a:t>data</a:t>
            </a:r>
            <a:r>
              <a:rPr sz="1100" b="1" spc="-3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100" b="1" spc="-20" dirty="0">
                <a:solidFill>
                  <a:srgbClr val="90C225"/>
                </a:solidFill>
                <a:latin typeface="Trebuchet MS"/>
                <a:cs typeface="Trebuchet MS"/>
              </a:rPr>
              <a:t>types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90261" y="1920620"/>
            <a:ext cx="2019935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90C225"/>
                </a:solidFill>
                <a:latin typeface="Segoe UI Symbol"/>
                <a:cs typeface="Segoe UI Symbol"/>
              </a:rPr>
              <a:t>✔</a:t>
            </a:r>
            <a:r>
              <a:rPr sz="1100" spc="40" dirty="0">
                <a:solidFill>
                  <a:srgbClr val="90C225"/>
                </a:solidFill>
                <a:latin typeface="Segoe UI Symbol"/>
                <a:cs typeface="Segoe UI Symbol"/>
              </a:rPr>
              <a:t> </a:t>
            </a:r>
            <a:r>
              <a:rPr sz="1100" b="1" dirty="0">
                <a:solidFill>
                  <a:srgbClr val="90C225"/>
                </a:solidFill>
                <a:latin typeface="Trebuchet MS"/>
                <a:cs typeface="Trebuchet MS"/>
              </a:rPr>
              <a:t>Standardized</a:t>
            </a:r>
            <a:r>
              <a:rPr sz="1100" b="1" spc="-5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90C225"/>
                </a:solidFill>
                <a:latin typeface="Trebuchet MS"/>
                <a:cs typeface="Trebuchet MS"/>
              </a:rPr>
              <a:t>column</a:t>
            </a:r>
            <a:r>
              <a:rPr sz="1100" b="1" spc="-1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100" b="1" spc="-20" dirty="0">
                <a:solidFill>
                  <a:srgbClr val="90C225"/>
                </a:solidFill>
                <a:latin typeface="Trebuchet MS"/>
                <a:cs typeface="Trebuchet MS"/>
              </a:rPr>
              <a:t>names</a:t>
            </a:r>
            <a:endParaRPr sz="1100">
              <a:latin typeface="Trebuchet MS"/>
              <a:cs typeface="Trebuchet MS"/>
            </a:endParaRPr>
          </a:p>
          <a:p>
            <a:pPr marL="18415">
              <a:lnSpc>
                <a:spcPct val="100000"/>
              </a:lnSpc>
            </a:pPr>
            <a:r>
              <a:rPr sz="1100" dirty="0">
                <a:solidFill>
                  <a:srgbClr val="90C225"/>
                </a:solidFill>
                <a:latin typeface="Segoe UI Symbol"/>
                <a:cs typeface="Segoe UI Symbol"/>
              </a:rPr>
              <a:t>✔</a:t>
            </a:r>
            <a:r>
              <a:rPr sz="1100" spc="25" dirty="0">
                <a:solidFill>
                  <a:srgbClr val="90C225"/>
                </a:solidFill>
                <a:latin typeface="Segoe UI Symbol"/>
                <a:cs typeface="Segoe UI Symbol"/>
              </a:rPr>
              <a:t> </a:t>
            </a:r>
            <a:r>
              <a:rPr sz="1100" b="1" dirty="0">
                <a:solidFill>
                  <a:srgbClr val="90C225"/>
                </a:solidFill>
                <a:latin typeface="Trebuchet MS"/>
                <a:cs typeface="Trebuchet MS"/>
              </a:rPr>
              <a:t>Verified duplicate</a:t>
            </a:r>
            <a:r>
              <a:rPr sz="1100" b="1" spc="-6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90C225"/>
                </a:solidFill>
                <a:latin typeface="Trebuchet MS"/>
                <a:cs typeface="Trebuchet MS"/>
              </a:rPr>
              <a:t>records</a:t>
            </a:r>
            <a:endParaRPr sz="1100">
              <a:latin typeface="Trebuchet MS"/>
              <a:cs typeface="Trebuchet MS"/>
            </a:endParaRPr>
          </a:p>
          <a:p>
            <a:pPr marL="52069">
              <a:lnSpc>
                <a:spcPct val="100000"/>
              </a:lnSpc>
            </a:pPr>
            <a:r>
              <a:rPr sz="1100" dirty="0">
                <a:solidFill>
                  <a:srgbClr val="90C225"/>
                </a:solidFill>
                <a:latin typeface="Segoe UI Symbol"/>
                <a:cs typeface="Segoe UI Symbol"/>
              </a:rPr>
              <a:t>✔</a:t>
            </a:r>
            <a:r>
              <a:rPr sz="1100" spc="20" dirty="0">
                <a:solidFill>
                  <a:srgbClr val="90C225"/>
                </a:solidFill>
                <a:latin typeface="Segoe UI Symbol"/>
                <a:cs typeface="Segoe UI Symbol"/>
              </a:rPr>
              <a:t> </a:t>
            </a:r>
            <a:r>
              <a:rPr sz="1100" b="1" dirty="0">
                <a:solidFill>
                  <a:srgbClr val="90C225"/>
                </a:solidFill>
                <a:latin typeface="Trebuchet MS"/>
                <a:cs typeface="Trebuchet MS"/>
              </a:rPr>
              <a:t>Prepared</a:t>
            </a:r>
            <a:r>
              <a:rPr sz="1100" b="1" spc="-1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90C225"/>
                </a:solidFill>
                <a:latin typeface="Trebuchet MS"/>
                <a:cs typeface="Trebuchet MS"/>
              </a:rPr>
              <a:t>data</a:t>
            </a:r>
            <a:r>
              <a:rPr sz="1100" b="1" spc="-2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90C225"/>
                </a:solidFill>
                <a:latin typeface="Trebuchet MS"/>
                <a:cs typeface="Trebuchet MS"/>
              </a:rPr>
              <a:t>for</a:t>
            </a:r>
            <a:r>
              <a:rPr sz="1100" b="1" spc="-10" dirty="0">
                <a:solidFill>
                  <a:srgbClr val="90C225"/>
                </a:solidFill>
                <a:latin typeface="Trebuchet MS"/>
                <a:cs typeface="Trebuchet MS"/>
              </a:rPr>
              <a:t> analysis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5505" y="2700273"/>
            <a:ext cx="2943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04040"/>
                </a:solidFill>
                <a:latin typeface="Trebuchet MS"/>
                <a:cs typeface="Trebuchet MS"/>
              </a:rPr>
              <a:t>Before</a:t>
            </a:r>
            <a:r>
              <a:rPr sz="2400" b="1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rebuchet MS"/>
                <a:cs typeface="Trebuchet MS"/>
              </a:rPr>
              <a:t>Cleaned</a:t>
            </a:r>
            <a:r>
              <a:rPr sz="2400" b="1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spc="-20" dirty="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87111" y="3285744"/>
            <a:ext cx="4187951" cy="320954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168265" y="2700273"/>
            <a:ext cx="2729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04040"/>
                </a:solidFill>
                <a:latin typeface="Trebuchet MS"/>
                <a:cs typeface="Trebuchet MS"/>
              </a:rPr>
              <a:t>After</a:t>
            </a:r>
            <a:r>
              <a:rPr sz="2400" b="1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rebuchet MS"/>
                <a:cs typeface="Trebuchet MS"/>
              </a:rPr>
              <a:t>Cleaned</a:t>
            </a:r>
            <a:r>
              <a:rPr sz="2400" b="1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spc="-20" dirty="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9468" y="194894"/>
            <a:ext cx="63233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90C225"/>
                </a:solidFill>
              </a:rPr>
              <a:t>Exploratory</a:t>
            </a:r>
            <a:r>
              <a:rPr sz="3600" spc="-35" dirty="0">
                <a:solidFill>
                  <a:srgbClr val="90C225"/>
                </a:solidFill>
              </a:rPr>
              <a:t> </a:t>
            </a:r>
            <a:r>
              <a:rPr sz="3600" dirty="0">
                <a:solidFill>
                  <a:srgbClr val="90C225"/>
                </a:solidFill>
              </a:rPr>
              <a:t>Data</a:t>
            </a:r>
            <a:r>
              <a:rPr sz="3600" spc="-250" dirty="0">
                <a:solidFill>
                  <a:srgbClr val="90C225"/>
                </a:solidFill>
              </a:rPr>
              <a:t> </a:t>
            </a:r>
            <a:r>
              <a:rPr sz="3600" spc="-10" dirty="0">
                <a:solidFill>
                  <a:srgbClr val="90C225"/>
                </a:solidFill>
              </a:rPr>
              <a:t>Analysis(EDA)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784" y="1803395"/>
            <a:ext cx="4238040" cy="22632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22172" y="956005"/>
            <a:ext cx="3952240" cy="882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Trebuchet MS"/>
                <a:cs typeface="Trebuchet MS"/>
              </a:rPr>
              <a:t>Sales</a:t>
            </a:r>
            <a:r>
              <a:rPr sz="2000" b="1" spc="-6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Distribution(Histogram)</a:t>
            </a:r>
            <a:endParaRPr sz="20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30"/>
              </a:spcBef>
            </a:pPr>
            <a:r>
              <a:rPr sz="1200" b="1" dirty="0">
                <a:latin typeface="Trebuchet MS"/>
                <a:cs typeface="Trebuchet MS"/>
              </a:rPr>
              <a:t>Most</a:t>
            </a:r>
            <a:r>
              <a:rPr sz="1200" b="1" spc="5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transactions</a:t>
            </a:r>
            <a:r>
              <a:rPr sz="1200" b="1" spc="-6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have</a:t>
            </a:r>
            <a:r>
              <a:rPr sz="1200" b="1" spc="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lower sales</a:t>
            </a:r>
            <a:r>
              <a:rPr sz="1200" b="1" spc="-6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values,</a:t>
            </a:r>
            <a:r>
              <a:rPr sz="1200" b="1" spc="-3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while</a:t>
            </a:r>
            <a:r>
              <a:rPr sz="1200" b="1" spc="-2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a</a:t>
            </a:r>
            <a:r>
              <a:rPr sz="1200" b="1" spc="15" dirty="0">
                <a:latin typeface="Trebuchet MS"/>
                <a:cs typeface="Trebuchet MS"/>
              </a:rPr>
              <a:t> </a:t>
            </a:r>
            <a:r>
              <a:rPr sz="1200" b="1" spc="-25" dirty="0">
                <a:latin typeface="Trebuchet MS"/>
                <a:cs typeface="Trebuchet MS"/>
              </a:rPr>
              <a:t>few </a:t>
            </a:r>
            <a:r>
              <a:rPr sz="1200" b="1" spc="-10" dirty="0">
                <a:latin typeface="Trebuchet MS"/>
                <a:cs typeface="Trebuchet MS"/>
              </a:rPr>
              <a:t>high-</a:t>
            </a:r>
            <a:r>
              <a:rPr sz="1200" b="1" dirty="0">
                <a:latin typeface="Trebuchet MS"/>
                <a:cs typeface="Trebuchet MS"/>
              </a:rPr>
              <a:t>value</a:t>
            </a:r>
            <a:r>
              <a:rPr sz="1200" b="1" spc="-15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transactions</a:t>
            </a:r>
            <a:r>
              <a:rPr sz="1200" b="1" spc="-5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contribute</a:t>
            </a:r>
            <a:r>
              <a:rPr sz="1200" b="1" spc="-1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significantly</a:t>
            </a:r>
            <a:r>
              <a:rPr sz="1200" b="1" spc="-3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to</a:t>
            </a:r>
            <a:r>
              <a:rPr sz="1200" b="1" spc="5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total sales.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76264" y="839215"/>
            <a:ext cx="3318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rebuchet MS"/>
                <a:cs typeface="Trebuchet MS"/>
              </a:rPr>
              <a:t>Category-</a:t>
            </a:r>
            <a:r>
              <a:rPr sz="1800" b="1" dirty="0">
                <a:latin typeface="Trebuchet MS"/>
                <a:cs typeface="Trebuchet MS"/>
              </a:rPr>
              <a:t>wise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Sales(Bar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Chart)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76264" y="1113536"/>
            <a:ext cx="343281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Trebuchet MS"/>
                <a:cs typeface="Trebuchet MS"/>
              </a:rPr>
              <a:t>Some</a:t>
            </a:r>
            <a:r>
              <a:rPr sz="1100" b="1" spc="-35" dirty="0">
                <a:latin typeface="Trebuchet MS"/>
                <a:cs typeface="Trebuchet MS"/>
              </a:rPr>
              <a:t> </a:t>
            </a:r>
            <a:r>
              <a:rPr sz="1100" b="1" dirty="0">
                <a:latin typeface="Trebuchet MS"/>
                <a:cs typeface="Trebuchet MS"/>
              </a:rPr>
              <a:t>product</a:t>
            </a:r>
            <a:r>
              <a:rPr sz="1100" b="1" spc="-70" dirty="0">
                <a:latin typeface="Trebuchet MS"/>
                <a:cs typeface="Trebuchet MS"/>
              </a:rPr>
              <a:t> </a:t>
            </a:r>
            <a:r>
              <a:rPr sz="1100" b="1" dirty="0">
                <a:latin typeface="Trebuchet MS"/>
                <a:cs typeface="Trebuchet MS"/>
              </a:rPr>
              <a:t>categories</a:t>
            </a:r>
            <a:r>
              <a:rPr sz="1100" b="1" spc="-15" dirty="0">
                <a:latin typeface="Trebuchet MS"/>
                <a:cs typeface="Trebuchet MS"/>
              </a:rPr>
              <a:t> </a:t>
            </a:r>
            <a:r>
              <a:rPr sz="1100" b="1" dirty="0">
                <a:latin typeface="Trebuchet MS"/>
                <a:cs typeface="Trebuchet MS"/>
              </a:rPr>
              <a:t>generate</a:t>
            </a:r>
            <a:r>
              <a:rPr sz="1100" b="1" spc="-10" dirty="0">
                <a:latin typeface="Trebuchet MS"/>
                <a:cs typeface="Trebuchet MS"/>
              </a:rPr>
              <a:t> </a:t>
            </a:r>
            <a:r>
              <a:rPr sz="1100" b="1" dirty="0">
                <a:latin typeface="Trebuchet MS"/>
                <a:cs typeface="Trebuchet MS"/>
              </a:rPr>
              <a:t>higher</a:t>
            </a:r>
            <a:r>
              <a:rPr sz="1100" b="1" spc="-15" dirty="0">
                <a:latin typeface="Trebuchet MS"/>
                <a:cs typeface="Trebuchet MS"/>
              </a:rPr>
              <a:t> </a:t>
            </a:r>
            <a:r>
              <a:rPr sz="1100" b="1" dirty="0">
                <a:latin typeface="Trebuchet MS"/>
                <a:cs typeface="Trebuchet MS"/>
              </a:rPr>
              <a:t>sales</a:t>
            </a:r>
            <a:r>
              <a:rPr sz="1100" b="1" spc="-40" dirty="0">
                <a:latin typeface="Trebuchet MS"/>
                <a:cs typeface="Trebuchet MS"/>
              </a:rPr>
              <a:t> </a:t>
            </a:r>
            <a:r>
              <a:rPr sz="1100" b="1" spc="-20" dirty="0">
                <a:latin typeface="Trebuchet MS"/>
                <a:cs typeface="Trebuchet MS"/>
              </a:rPr>
              <a:t>than </a:t>
            </a:r>
            <a:r>
              <a:rPr sz="1100" b="1" spc="-10" dirty="0">
                <a:latin typeface="Trebuchet MS"/>
                <a:cs typeface="Trebuchet MS"/>
              </a:rPr>
              <a:t>others.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1603247"/>
            <a:ext cx="3791711" cy="215188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77443" y="3875278"/>
            <a:ext cx="4316730" cy="485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70" dirty="0">
                <a:latin typeface="Trebuchet MS"/>
                <a:cs typeface="Trebuchet MS"/>
              </a:rPr>
              <a:t>Top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Products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00" b="1" dirty="0">
                <a:latin typeface="Trebuchet MS"/>
                <a:cs typeface="Trebuchet MS"/>
              </a:rPr>
              <a:t>A</a:t>
            </a:r>
            <a:r>
              <a:rPr sz="1200" b="1" spc="-8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small</a:t>
            </a:r>
            <a:r>
              <a:rPr sz="1200" b="1" spc="-3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number</a:t>
            </a:r>
            <a:r>
              <a:rPr sz="1200" b="1" spc="-5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of</a:t>
            </a:r>
            <a:r>
              <a:rPr sz="1200" b="1" spc="-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products</a:t>
            </a:r>
            <a:r>
              <a:rPr sz="1200" b="1" spc="-3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contribute</a:t>
            </a:r>
            <a:r>
              <a:rPr sz="1200" b="1" spc="-3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the</a:t>
            </a:r>
            <a:r>
              <a:rPr sz="1200" b="1" spc="-4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highest</a:t>
            </a:r>
            <a:r>
              <a:rPr sz="1200" b="1" spc="-35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revenue.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063" y="4401311"/>
            <a:ext cx="5285232" cy="223113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176264" y="3692144"/>
            <a:ext cx="389001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rebuchet MS"/>
                <a:cs typeface="Trebuchet MS"/>
              </a:rPr>
              <a:t>Correlations</a:t>
            </a:r>
            <a:r>
              <a:rPr sz="1800" b="1" spc="-8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Heatmap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98900"/>
              </a:lnSpc>
              <a:spcBef>
                <a:spcPts val="40"/>
              </a:spcBef>
            </a:pPr>
            <a:r>
              <a:rPr sz="1200" b="1" spc="-10" dirty="0">
                <a:latin typeface="Trebuchet MS"/>
                <a:cs typeface="Trebuchet MS"/>
              </a:rPr>
              <a:t>Positive</a:t>
            </a:r>
            <a:r>
              <a:rPr sz="1200" b="1" spc="-1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correlations</a:t>
            </a:r>
            <a:r>
              <a:rPr sz="1200" b="1" spc="-5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exist</a:t>
            </a:r>
            <a:r>
              <a:rPr sz="1200" b="1" spc="-3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between</a:t>
            </a:r>
            <a:r>
              <a:rPr sz="1200" b="1" spc="-4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some</a:t>
            </a:r>
            <a:r>
              <a:rPr sz="1200" b="1" spc="-10" dirty="0">
                <a:latin typeface="Trebuchet MS"/>
                <a:cs typeface="Trebuchet MS"/>
              </a:rPr>
              <a:t> numerical </a:t>
            </a:r>
            <a:r>
              <a:rPr sz="1200" b="1" dirty="0">
                <a:latin typeface="Trebuchet MS"/>
                <a:cs typeface="Trebuchet MS"/>
              </a:rPr>
              <a:t>variables,</a:t>
            </a:r>
            <a:r>
              <a:rPr sz="1200" b="1" spc="-5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helping</a:t>
            </a:r>
            <a:r>
              <a:rPr sz="1200" b="1" spc="-4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identify</a:t>
            </a:r>
            <a:r>
              <a:rPr sz="1200" b="1" spc="-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key</a:t>
            </a:r>
            <a:r>
              <a:rPr sz="1200" b="1" spc="-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business</a:t>
            </a:r>
            <a:r>
              <a:rPr sz="1200" b="1" spc="-75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relationships</a:t>
            </a:r>
            <a:r>
              <a:rPr sz="1800" spc="-10" dirty="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6000" y="4663440"/>
            <a:ext cx="4443984" cy="18623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16955" y="624585"/>
            <a:ext cx="3496945" cy="6591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50900">
              <a:lnSpc>
                <a:spcPts val="1019"/>
              </a:lnSpc>
              <a:spcBef>
                <a:spcPts val="110"/>
              </a:spcBef>
            </a:pPr>
            <a:r>
              <a:rPr sz="900" b="1" dirty="0">
                <a:solidFill>
                  <a:srgbClr val="90C225"/>
                </a:solidFill>
                <a:latin typeface="Trebuchet MS"/>
                <a:cs typeface="Trebuchet MS"/>
              </a:rPr>
              <a:t>SQL</a:t>
            </a:r>
            <a:r>
              <a:rPr sz="900" b="1" spc="-1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90C225"/>
                </a:solidFill>
                <a:latin typeface="Trebuchet MS"/>
                <a:cs typeface="Trebuchet MS"/>
              </a:rPr>
              <a:t>Analysis</a:t>
            </a:r>
            <a:endParaRPr sz="900">
              <a:latin typeface="Trebuchet MS"/>
              <a:cs typeface="Trebuchet MS"/>
            </a:endParaRPr>
          </a:p>
          <a:p>
            <a:pPr marL="12700" marR="5080">
              <a:lnSpc>
                <a:spcPct val="90500"/>
              </a:lnSpc>
              <a:spcBef>
                <a:spcPts val="45"/>
              </a:spcBef>
            </a:pPr>
            <a:r>
              <a:rPr sz="900" b="1" dirty="0">
                <a:solidFill>
                  <a:srgbClr val="90C225"/>
                </a:solidFill>
                <a:latin typeface="Trebuchet MS"/>
                <a:cs typeface="Trebuchet MS"/>
              </a:rPr>
              <a:t>Objective:</a:t>
            </a:r>
            <a:r>
              <a:rPr sz="900" b="1" spc="-5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90C225"/>
                </a:solidFill>
                <a:latin typeface="Trebuchet MS"/>
                <a:cs typeface="Trebuchet MS"/>
              </a:rPr>
              <a:t>SQL</a:t>
            </a:r>
            <a:r>
              <a:rPr sz="900" b="1" spc="-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90C225"/>
                </a:solidFill>
                <a:latin typeface="Trebuchet MS"/>
                <a:cs typeface="Trebuchet MS"/>
              </a:rPr>
              <a:t>was</a:t>
            </a:r>
            <a:r>
              <a:rPr sz="900" b="1" spc="-4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90C225"/>
                </a:solidFill>
                <a:latin typeface="Trebuchet MS"/>
                <a:cs typeface="Trebuchet MS"/>
              </a:rPr>
              <a:t>used</a:t>
            </a:r>
            <a:r>
              <a:rPr sz="900" b="1" spc="2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90C225"/>
                </a:solidFill>
                <a:latin typeface="Trebuchet MS"/>
                <a:cs typeface="Trebuchet MS"/>
              </a:rPr>
              <a:t>to query</a:t>
            </a:r>
            <a:r>
              <a:rPr sz="900" b="1" spc="-1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90C225"/>
                </a:solidFill>
                <a:latin typeface="Trebuchet MS"/>
                <a:cs typeface="Trebuchet MS"/>
              </a:rPr>
              <a:t>the</a:t>
            </a:r>
            <a:r>
              <a:rPr sz="900" b="1" spc="-3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90C225"/>
                </a:solidFill>
                <a:latin typeface="Trebuchet MS"/>
                <a:cs typeface="Trebuchet MS"/>
              </a:rPr>
              <a:t>sales</a:t>
            </a:r>
            <a:r>
              <a:rPr sz="900" b="1" spc="-1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90C225"/>
                </a:solidFill>
                <a:latin typeface="Trebuchet MS"/>
                <a:cs typeface="Trebuchet MS"/>
              </a:rPr>
              <a:t>database</a:t>
            </a:r>
            <a:r>
              <a:rPr sz="900" b="1" spc="-2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90C225"/>
                </a:solidFill>
                <a:latin typeface="Trebuchet MS"/>
                <a:cs typeface="Trebuchet MS"/>
              </a:rPr>
              <a:t>and</a:t>
            </a:r>
            <a:r>
              <a:rPr sz="900" b="1" spc="1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90C225"/>
                </a:solidFill>
                <a:latin typeface="Trebuchet MS"/>
                <a:cs typeface="Trebuchet MS"/>
              </a:rPr>
              <a:t>answer </a:t>
            </a:r>
            <a:r>
              <a:rPr sz="900" b="1" dirty="0">
                <a:solidFill>
                  <a:srgbClr val="90C225"/>
                </a:solidFill>
                <a:latin typeface="Trebuchet MS"/>
                <a:cs typeface="Trebuchet MS"/>
              </a:rPr>
              <a:t>key</a:t>
            </a:r>
            <a:r>
              <a:rPr sz="900" b="1" spc="-4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90C225"/>
                </a:solidFill>
                <a:latin typeface="Trebuchet MS"/>
                <a:cs typeface="Trebuchet MS"/>
              </a:rPr>
              <a:t>business questions</a:t>
            </a:r>
            <a:r>
              <a:rPr sz="900" b="1" spc="-2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90C225"/>
                </a:solidFill>
                <a:latin typeface="Trebuchet MS"/>
                <a:cs typeface="Trebuchet MS"/>
              </a:rPr>
              <a:t>efficiently.</a:t>
            </a:r>
            <a:r>
              <a:rPr sz="900" b="1" spc="-3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90C225"/>
                </a:solidFill>
                <a:latin typeface="Trebuchet MS"/>
                <a:cs typeface="Trebuchet MS"/>
              </a:rPr>
              <a:t>The</a:t>
            </a:r>
            <a:r>
              <a:rPr sz="900" b="1" spc="-3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90C225"/>
                </a:solidFill>
                <a:latin typeface="Trebuchet MS"/>
                <a:cs typeface="Trebuchet MS"/>
              </a:rPr>
              <a:t>analysis helped</a:t>
            </a:r>
            <a:r>
              <a:rPr sz="900" b="1" spc="-6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90C225"/>
                </a:solidFill>
                <a:latin typeface="Trebuchet MS"/>
                <a:cs typeface="Trebuchet MS"/>
              </a:rPr>
              <a:t>identify </a:t>
            </a:r>
            <a:r>
              <a:rPr sz="900" b="1" dirty="0">
                <a:solidFill>
                  <a:srgbClr val="90C225"/>
                </a:solidFill>
                <a:latin typeface="Trebuchet MS"/>
                <a:cs typeface="Trebuchet MS"/>
              </a:rPr>
              <a:t>sales</a:t>
            </a:r>
            <a:r>
              <a:rPr sz="900" b="1" spc="-3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90C225"/>
                </a:solidFill>
                <a:latin typeface="Trebuchet MS"/>
                <a:cs typeface="Trebuchet MS"/>
              </a:rPr>
              <a:t>performance,</a:t>
            </a:r>
            <a:r>
              <a:rPr sz="900" b="1" spc="-6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90C225"/>
                </a:solidFill>
                <a:latin typeface="Trebuchet MS"/>
                <a:cs typeface="Trebuchet MS"/>
              </a:rPr>
              <a:t>product</a:t>
            </a:r>
            <a:r>
              <a:rPr sz="900" b="1" spc="-2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90C225"/>
                </a:solidFill>
                <a:latin typeface="Trebuchet MS"/>
                <a:cs typeface="Trebuchet MS"/>
              </a:rPr>
              <a:t>trends,</a:t>
            </a:r>
            <a:r>
              <a:rPr sz="900" b="1" spc="-2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90C225"/>
                </a:solidFill>
                <a:latin typeface="Trebuchet MS"/>
                <a:cs typeface="Trebuchet MS"/>
              </a:rPr>
              <a:t>and</a:t>
            </a:r>
            <a:r>
              <a:rPr sz="900" b="1" spc="-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90C225"/>
                </a:solidFill>
                <a:latin typeface="Trebuchet MS"/>
                <a:cs typeface="Trebuchet MS"/>
              </a:rPr>
              <a:t>customer</a:t>
            </a:r>
            <a:r>
              <a:rPr sz="900" b="1" spc="-5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90C225"/>
                </a:solidFill>
                <a:latin typeface="Trebuchet MS"/>
                <a:cs typeface="Trebuchet MS"/>
              </a:rPr>
              <a:t>purchasing patterns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89550" y="2062759"/>
            <a:ext cx="3903345" cy="379476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Business</a:t>
            </a:r>
            <a:r>
              <a:rPr sz="1300" b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rebuchet MS"/>
                <a:cs typeface="Trebuchet MS"/>
              </a:rPr>
              <a:t>Questions</a:t>
            </a:r>
            <a:r>
              <a:rPr sz="1300" b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Answered</a:t>
            </a:r>
            <a:r>
              <a:rPr sz="1300" b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Using</a:t>
            </a:r>
            <a:r>
              <a:rPr sz="13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spc="-25" dirty="0">
                <a:solidFill>
                  <a:srgbClr val="FFFFFF"/>
                </a:solidFill>
                <a:latin typeface="Trebuchet MS"/>
                <a:cs typeface="Trebuchet MS"/>
              </a:rPr>
              <a:t>SQL</a:t>
            </a:r>
            <a:endParaRPr sz="1300">
              <a:latin typeface="Trebuchet MS"/>
              <a:cs typeface="Trebuchet MS"/>
            </a:endParaRPr>
          </a:p>
          <a:p>
            <a:pPr marL="356870" marR="273050" indent="-344805">
              <a:lnSpc>
                <a:spcPts val="1420"/>
              </a:lnSpc>
              <a:spcBef>
                <a:spcPts val="1005"/>
              </a:spcBef>
              <a:buClr>
                <a:srgbClr val="90C225"/>
              </a:buClr>
              <a:buSzPct val="76923"/>
              <a:buFont typeface="Wingdings"/>
              <a:buChar char=""/>
              <a:tabLst>
                <a:tab pos="356870" algn="l"/>
              </a:tabLst>
            </a:pPr>
            <a:r>
              <a:rPr sz="1300" dirty="0">
                <a:solidFill>
                  <a:srgbClr val="FFFFFF"/>
                </a:solidFill>
                <a:latin typeface="Segoe UI Symbol"/>
                <a:cs typeface="Segoe UI Symbol"/>
              </a:rPr>
              <a:t>✔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What</a:t>
            </a:r>
            <a:r>
              <a:rPr sz="1300" b="1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13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b="1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total</a:t>
            </a:r>
            <a:r>
              <a:rPr sz="13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sales</a:t>
            </a:r>
            <a:r>
              <a:rPr sz="1300" b="1" spc="-10" dirty="0">
                <a:solidFill>
                  <a:srgbClr val="FFFFFF"/>
                </a:solidFill>
                <a:latin typeface="Trebuchet MS"/>
                <a:cs typeface="Trebuchet MS"/>
              </a:rPr>
              <a:t> generated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by </a:t>
            </a:r>
            <a:r>
              <a:rPr sz="1300" b="1" spc="-25" dirty="0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sz="1300" b="1" spc="-10" dirty="0">
                <a:solidFill>
                  <a:srgbClr val="FFFFFF"/>
                </a:solidFill>
                <a:latin typeface="Trebuchet MS"/>
                <a:cs typeface="Trebuchet MS"/>
              </a:rPr>
              <a:t>business?</a:t>
            </a:r>
            <a:endParaRPr sz="1300">
              <a:latin typeface="Trebuchet MS"/>
              <a:cs typeface="Trebuchet MS"/>
            </a:endParaRPr>
          </a:p>
          <a:p>
            <a:pPr marL="356870" indent="-344170">
              <a:lnSpc>
                <a:spcPct val="100000"/>
              </a:lnSpc>
              <a:spcBef>
                <a:spcPts val="815"/>
              </a:spcBef>
              <a:buClr>
                <a:srgbClr val="90C225"/>
              </a:buClr>
              <a:buSzPct val="76923"/>
              <a:buFont typeface="Wingdings"/>
              <a:buChar char=""/>
              <a:tabLst>
                <a:tab pos="356870" algn="l"/>
              </a:tabLst>
            </a:pPr>
            <a:r>
              <a:rPr sz="1300" dirty="0">
                <a:solidFill>
                  <a:srgbClr val="FFFFFF"/>
                </a:solidFill>
                <a:latin typeface="Segoe UI Symbol"/>
                <a:cs typeface="Segoe UI Symbol"/>
              </a:rPr>
              <a:t>✔</a:t>
            </a:r>
            <a:r>
              <a:rPr sz="1300" spc="-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What</a:t>
            </a:r>
            <a:r>
              <a:rPr sz="13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1300" b="1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b="1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average</a:t>
            </a:r>
            <a:r>
              <a:rPr sz="1300" b="1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sales</a:t>
            </a:r>
            <a:r>
              <a:rPr sz="1300" b="1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per</a:t>
            </a:r>
            <a:r>
              <a:rPr sz="1300" b="1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rebuchet MS"/>
                <a:cs typeface="Trebuchet MS"/>
              </a:rPr>
              <a:t>transaction?</a:t>
            </a:r>
            <a:endParaRPr sz="1300">
              <a:latin typeface="Trebuchet MS"/>
              <a:cs typeface="Trebuchet MS"/>
            </a:endParaRPr>
          </a:p>
          <a:p>
            <a:pPr marL="356870" indent="-344170">
              <a:lnSpc>
                <a:spcPct val="100000"/>
              </a:lnSpc>
              <a:spcBef>
                <a:spcPts val="840"/>
              </a:spcBef>
              <a:buClr>
                <a:srgbClr val="90C225"/>
              </a:buClr>
              <a:buSzPct val="76923"/>
              <a:buFont typeface="Wingdings"/>
              <a:buChar char=""/>
              <a:tabLst>
                <a:tab pos="356870" algn="l"/>
              </a:tabLst>
            </a:pPr>
            <a:r>
              <a:rPr sz="1300" dirty="0">
                <a:solidFill>
                  <a:srgbClr val="FFFFFF"/>
                </a:solidFill>
                <a:latin typeface="Segoe UI Symbol"/>
                <a:cs typeface="Segoe UI Symbol"/>
              </a:rPr>
              <a:t>✔</a:t>
            </a:r>
            <a:r>
              <a:rPr sz="1300" spc="-10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Which</a:t>
            </a:r>
            <a:r>
              <a:rPr sz="1300" b="1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products</a:t>
            </a:r>
            <a:r>
              <a:rPr sz="13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rebuchet MS"/>
                <a:cs typeface="Trebuchet MS"/>
              </a:rPr>
              <a:t>generate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b="1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highest</a:t>
            </a:r>
            <a:r>
              <a:rPr sz="1300" b="1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rebuchet MS"/>
                <a:cs typeface="Trebuchet MS"/>
              </a:rPr>
              <a:t>sales?</a:t>
            </a:r>
            <a:endParaRPr sz="1300">
              <a:latin typeface="Trebuchet MS"/>
              <a:cs typeface="Trebuchet MS"/>
            </a:endParaRPr>
          </a:p>
          <a:p>
            <a:pPr marL="356870" indent="-344170">
              <a:lnSpc>
                <a:spcPts val="1490"/>
              </a:lnSpc>
              <a:spcBef>
                <a:spcPts val="840"/>
              </a:spcBef>
              <a:buClr>
                <a:srgbClr val="90C225"/>
              </a:buClr>
              <a:buSzPct val="76923"/>
              <a:buFont typeface="Wingdings"/>
              <a:buChar char=""/>
              <a:tabLst>
                <a:tab pos="356870" algn="l"/>
              </a:tabLst>
            </a:pPr>
            <a:r>
              <a:rPr sz="1300" dirty="0">
                <a:solidFill>
                  <a:srgbClr val="FFFFFF"/>
                </a:solidFill>
                <a:latin typeface="Segoe UI Symbol"/>
                <a:cs typeface="Segoe UI Symbol"/>
              </a:rPr>
              <a:t>✔</a:t>
            </a:r>
            <a:r>
              <a:rPr sz="1300" spc="-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Which</a:t>
            </a:r>
            <a:r>
              <a:rPr sz="13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product</a:t>
            </a:r>
            <a:r>
              <a:rPr sz="1300" b="1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category</a:t>
            </a:r>
            <a:r>
              <a:rPr sz="13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contributes</a:t>
            </a:r>
            <a:r>
              <a:rPr sz="1300" b="1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spc="-2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endParaRPr sz="1300">
              <a:latin typeface="Trebuchet MS"/>
              <a:cs typeface="Trebuchet MS"/>
            </a:endParaRPr>
          </a:p>
          <a:p>
            <a:pPr marL="356870">
              <a:lnSpc>
                <a:spcPts val="1490"/>
              </a:lnSpc>
            </a:pP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highest</a:t>
            </a:r>
            <a:r>
              <a:rPr sz="13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rebuchet MS"/>
                <a:cs typeface="Trebuchet MS"/>
              </a:rPr>
              <a:t>revenue?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SQL</a:t>
            </a:r>
            <a:r>
              <a:rPr sz="1300" b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Queries</a:t>
            </a:r>
            <a:r>
              <a:rPr sz="1300" b="1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spc="-20" dirty="0">
                <a:solidFill>
                  <a:srgbClr val="FFFFFF"/>
                </a:solidFill>
                <a:latin typeface="Trebuchet MS"/>
                <a:cs typeface="Trebuchet MS"/>
              </a:rPr>
              <a:t>Used</a:t>
            </a:r>
            <a:endParaRPr sz="1300">
              <a:latin typeface="Trebuchet MS"/>
              <a:cs typeface="Trebuchet MS"/>
            </a:endParaRPr>
          </a:p>
          <a:p>
            <a:pPr marL="170180" indent="-157480">
              <a:lnSpc>
                <a:spcPct val="100000"/>
              </a:lnSpc>
              <a:spcBef>
                <a:spcPts val="840"/>
              </a:spcBef>
              <a:buSzPct val="92307"/>
              <a:buAutoNum type="arabicPeriod"/>
              <a:tabLst>
                <a:tab pos="170180" algn="l"/>
              </a:tabLst>
            </a:pPr>
            <a:r>
              <a:rPr sz="1300" b="1" spc="-30" dirty="0">
                <a:solidFill>
                  <a:srgbClr val="FFFFFF"/>
                </a:solidFill>
                <a:latin typeface="Trebuchet MS"/>
                <a:cs typeface="Trebuchet MS"/>
              </a:rPr>
              <a:t>Total</a:t>
            </a:r>
            <a:r>
              <a:rPr sz="1300" b="1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rebuchet MS"/>
                <a:cs typeface="Trebuchet MS"/>
              </a:rPr>
              <a:t>Sales</a:t>
            </a:r>
            <a:endParaRPr sz="1300">
              <a:latin typeface="Trebuchet MS"/>
              <a:cs typeface="Trebuchet MS"/>
            </a:endParaRPr>
          </a:p>
          <a:p>
            <a:pPr marL="12700" marR="260985">
              <a:lnSpc>
                <a:spcPts val="1420"/>
              </a:lnSpc>
              <a:spcBef>
                <a:spcPts val="1005"/>
              </a:spcBef>
            </a:pP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Query:</a:t>
            </a:r>
            <a:r>
              <a:rPr sz="1300" b="1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SELECT</a:t>
            </a:r>
            <a:r>
              <a:rPr sz="1300" b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spc="-20" dirty="0">
                <a:solidFill>
                  <a:srgbClr val="FFFFFF"/>
                </a:solidFill>
                <a:latin typeface="Trebuchet MS"/>
                <a:cs typeface="Trebuchet MS"/>
              </a:rPr>
              <a:t>SUM(Total_Sales)</a:t>
            </a:r>
            <a:r>
              <a:rPr sz="1300" b="1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AS</a:t>
            </a:r>
            <a:r>
              <a:rPr sz="1300" b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rebuchet MS"/>
                <a:cs typeface="Trebuchet MS"/>
              </a:rPr>
              <a:t>Total_Sales FROM</a:t>
            </a:r>
            <a:r>
              <a:rPr sz="1300" b="1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rebuchet MS"/>
                <a:cs typeface="Trebuchet MS"/>
              </a:rPr>
              <a:t>ApexPlanet_DataAnalytics_Dataset;</a:t>
            </a:r>
            <a:endParaRPr sz="1300">
              <a:latin typeface="Trebuchet MS"/>
              <a:cs typeface="Trebuchet MS"/>
            </a:endParaRPr>
          </a:p>
          <a:p>
            <a:pPr marL="208915" indent="-196215">
              <a:lnSpc>
                <a:spcPct val="100000"/>
              </a:lnSpc>
              <a:spcBef>
                <a:spcPts val="815"/>
              </a:spcBef>
              <a:buSzPct val="92307"/>
              <a:buAutoNum type="arabicPeriod" startAt="2"/>
              <a:tabLst>
                <a:tab pos="208915" algn="l"/>
              </a:tabLst>
            </a:pPr>
            <a:r>
              <a:rPr sz="1300" b="1" spc="-10" dirty="0">
                <a:solidFill>
                  <a:srgbClr val="FFFFFF"/>
                </a:solidFill>
                <a:latin typeface="Trebuchet MS"/>
                <a:cs typeface="Trebuchet MS"/>
              </a:rPr>
              <a:t>Average</a:t>
            </a:r>
            <a:r>
              <a:rPr sz="1300" b="1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spc="-20" dirty="0">
                <a:solidFill>
                  <a:srgbClr val="FFFFFF"/>
                </a:solidFill>
                <a:latin typeface="Trebuchet MS"/>
                <a:cs typeface="Trebuchet MS"/>
              </a:rPr>
              <a:t>Sales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490"/>
              </a:lnSpc>
              <a:spcBef>
                <a:spcPts val="840"/>
              </a:spcBef>
            </a:pP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Query:</a:t>
            </a:r>
            <a:r>
              <a:rPr sz="1300" b="1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rebuchet MS"/>
                <a:cs typeface="Trebuchet MS"/>
              </a:rPr>
              <a:t>SELECT</a:t>
            </a:r>
            <a:r>
              <a:rPr sz="130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spc="-25" dirty="0">
                <a:solidFill>
                  <a:srgbClr val="FFFFFF"/>
                </a:solidFill>
                <a:latin typeface="Trebuchet MS"/>
                <a:cs typeface="Trebuchet MS"/>
              </a:rPr>
              <a:t>AVG(Total_Sales)</a:t>
            </a:r>
            <a:r>
              <a:rPr sz="1300" b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AS</a:t>
            </a:r>
            <a:r>
              <a:rPr sz="1300" b="1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rebuchet MS"/>
                <a:cs typeface="Trebuchet MS"/>
              </a:rPr>
              <a:t>Average_Sales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490"/>
              </a:lnSpc>
            </a:pPr>
            <a:r>
              <a:rPr sz="1300" b="1" spc="-10" dirty="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sz="1300" b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rebuchet MS"/>
                <a:cs typeface="Trebuchet MS"/>
              </a:rPr>
              <a:t>ApexPlanet_DataAnalytics_Dataset;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4" name="object 4" descr="Magnifying glass showing decling performance"/>
          <p:cNvGrpSpPr/>
          <p:nvPr/>
        </p:nvGrpSpPr>
        <p:grpSpPr>
          <a:xfrm>
            <a:off x="0" y="0"/>
            <a:ext cx="5394960" cy="6858000"/>
            <a:chOff x="0" y="0"/>
            <a:chExt cx="5394960" cy="6858000"/>
          </a:xfrm>
        </p:grpSpPr>
        <p:pic>
          <p:nvPicPr>
            <p:cNvPr id="5" name="object 5" descr="Magnifying glass showing decling performanc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5394959" cy="685786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841375" cy="5666740"/>
            </a:xfrm>
            <a:custGeom>
              <a:avLst/>
              <a:gdLst/>
              <a:ahLst/>
              <a:cxnLst/>
              <a:rect l="l" t="t" r="r" b="b"/>
              <a:pathLst>
                <a:path w="841375" h="5666740">
                  <a:moveTo>
                    <a:pt x="841247" y="0"/>
                  </a:moveTo>
                  <a:lnTo>
                    <a:pt x="0" y="0"/>
                  </a:lnTo>
                  <a:lnTo>
                    <a:pt x="0" y="5666232"/>
                  </a:lnTo>
                  <a:lnTo>
                    <a:pt x="841247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21880" y="-3047"/>
            <a:ext cx="4772660" cy="6868159"/>
            <a:chOff x="7421880" y="-3047"/>
            <a:chExt cx="4772660" cy="6868159"/>
          </a:xfrm>
        </p:grpSpPr>
        <p:sp>
          <p:nvSpPr>
            <p:cNvPr id="3" name="object 3"/>
            <p:cNvSpPr/>
            <p:nvPr/>
          </p:nvSpPr>
          <p:spPr>
            <a:xfrm>
              <a:off x="9371076" y="1524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426452" y="3683507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ln w="9143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80576" y="0"/>
              <a:ext cx="3008630" cy="6858000"/>
            </a:xfrm>
            <a:custGeom>
              <a:avLst/>
              <a:gdLst/>
              <a:ahLst/>
              <a:cxnLst/>
              <a:rect l="l" t="t" r="r" b="b"/>
              <a:pathLst>
                <a:path w="3008629" h="6858000">
                  <a:moveTo>
                    <a:pt x="3008375" y="0"/>
                  </a:moveTo>
                  <a:lnTo>
                    <a:pt x="2043499" y="0"/>
                  </a:lnTo>
                  <a:lnTo>
                    <a:pt x="0" y="6858000"/>
                  </a:lnTo>
                  <a:lnTo>
                    <a:pt x="3008375" y="6858000"/>
                  </a:lnTo>
                  <a:lnTo>
                    <a:pt x="3008375" y="0"/>
                  </a:lnTo>
                  <a:close/>
                </a:path>
              </a:pathLst>
            </a:custGeom>
            <a:solidFill>
              <a:srgbClr val="90C225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05858" y="0"/>
              <a:ext cx="2586355" cy="6858000"/>
            </a:xfrm>
            <a:custGeom>
              <a:avLst/>
              <a:gdLst/>
              <a:ahLst/>
              <a:cxnLst/>
              <a:rect l="l" t="t" r="r" b="b"/>
              <a:pathLst>
                <a:path w="2586354" h="6858000">
                  <a:moveTo>
                    <a:pt x="2586142" y="0"/>
                  </a:moveTo>
                  <a:lnTo>
                    <a:pt x="0" y="0"/>
                  </a:lnTo>
                  <a:lnTo>
                    <a:pt x="1207430" y="6857999"/>
                  </a:lnTo>
                  <a:lnTo>
                    <a:pt x="2586142" y="6857999"/>
                  </a:lnTo>
                  <a:lnTo>
                    <a:pt x="2586142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33688" y="3048000"/>
              <a:ext cx="3258820" cy="3810000"/>
            </a:xfrm>
            <a:custGeom>
              <a:avLst/>
              <a:gdLst/>
              <a:ahLst/>
              <a:cxnLst/>
              <a:rect l="l" t="t" r="r" b="b"/>
              <a:pathLst>
                <a:path w="3258820" h="3810000">
                  <a:moveTo>
                    <a:pt x="3258311" y="0"/>
                  </a:moveTo>
                  <a:lnTo>
                    <a:pt x="0" y="3809999"/>
                  </a:lnTo>
                  <a:lnTo>
                    <a:pt x="3258311" y="3809999"/>
                  </a:lnTo>
                  <a:lnTo>
                    <a:pt x="3258311" y="0"/>
                  </a:lnTo>
                  <a:close/>
                </a:path>
              </a:pathLst>
            </a:custGeom>
            <a:solidFill>
              <a:srgbClr val="539F20">
                <a:alpha val="7215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39312" y="0"/>
              <a:ext cx="2849880" cy="6858000"/>
            </a:xfrm>
            <a:custGeom>
              <a:avLst/>
              <a:gdLst/>
              <a:ahLst/>
              <a:cxnLst/>
              <a:rect l="l" t="t" r="r" b="b"/>
              <a:pathLst>
                <a:path w="2849879" h="6858000">
                  <a:moveTo>
                    <a:pt x="2849639" y="0"/>
                  </a:moveTo>
                  <a:lnTo>
                    <a:pt x="0" y="0"/>
                  </a:lnTo>
                  <a:lnTo>
                    <a:pt x="2466226" y="6858000"/>
                  </a:lnTo>
                  <a:lnTo>
                    <a:pt x="2849639" y="6858000"/>
                  </a:lnTo>
                  <a:lnTo>
                    <a:pt x="2849639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99648" y="0"/>
              <a:ext cx="1289685" cy="6858000"/>
            </a:xfrm>
            <a:custGeom>
              <a:avLst/>
              <a:gdLst/>
              <a:ahLst/>
              <a:cxnLst/>
              <a:rect l="l" t="t" r="r" b="b"/>
              <a:pathLst>
                <a:path w="1289684" h="6858000">
                  <a:moveTo>
                    <a:pt x="1289303" y="0"/>
                  </a:moveTo>
                  <a:lnTo>
                    <a:pt x="1017691" y="0"/>
                  </a:lnTo>
                  <a:lnTo>
                    <a:pt x="0" y="6858000"/>
                  </a:lnTo>
                  <a:lnTo>
                    <a:pt x="1289303" y="6858000"/>
                  </a:lnTo>
                  <a:lnTo>
                    <a:pt x="1289303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>
                  <a:moveTo>
                    <a:pt x="1248203" y="0"/>
                  </a:moveTo>
                  <a:lnTo>
                    <a:pt x="0" y="0"/>
                  </a:lnTo>
                  <a:lnTo>
                    <a:pt x="1107741" y="6858000"/>
                  </a:lnTo>
                  <a:lnTo>
                    <a:pt x="1248203" y="6858000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90C225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72344" y="3590543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0"/>
            <a:ext cx="841375" cy="5666740"/>
          </a:xfrm>
          <a:custGeom>
            <a:avLst/>
            <a:gdLst/>
            <a:ahLst/>
            <a:cxnLst/>
            <a:rect l="l" t="t" r="r" b="b"/>
            <a:pathLst>
              <a:path w="841375" h="5666740">
                <a:moveTo>
                  <a:pt x="841247" y="0"/>
                </a:moveTo>
                <a:lnTo>
                  <a:pt x="0" y="0"/>
                </a:lnTo>
                <a:lnTo>
                  <a:pt x="0" y="5666232"/>
                </a:lnTo>
                <a:lnTo>
                  <a:pt x="841247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85876" y="1461896"/>
            <a:ext cx="19011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90C225"/>
                </a:solidFill>
                <a:latin typeface="Trebuchet MS"/>
                <a:cs typeface="Trebuchet MS"/>
              </a:rPr>
              <a:t>SQL</a:t>
            </a:r>
            <a:r>
              <a:rPr sz="1800" b="1" spc="-12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90C225"/>
                </a:solidFill>
                <a:latin typeface="Trebuchet MS"/>
                <a:cs typeface="Trebuchet MS"/>
              </a:rPr>
              <a:t>Queries</a:t>
            </a:r>
            <a:r>
              <a:rPr sz="1800" b="1" spc="-4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90C225"/>
                </a:solidFill>
                <a:latin typeface="Trebuchet MS"/>
                <a:cs typeface="Trebuchet MS"/>
              </a:rPr>
              <a:t>Used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5876" y="1956053"/>
            <a:ext cx="3796029" cy="93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70"/>
              </a:lnSpc>
              <a:spcBef>
                <a:spcPts val="100"/>
              </a:spcBef>
            </a:pPr>
            <a:r>
              <a:rPr sz="1800" spc="-35" dirty="0">
                <a:solidFill>
                  <a:srgbClr val="90C225"/>
                </a:solidFill>
                <a:latin typeface="Trebuchet MS"/>
                <a:cs typeface="Trebuchet MS"/>
              </a:rPr>
              <a:t>3.</a:t>
            </a:r>
            <a:r>
              <a:rPr sz="1800" b="1" spc="-35" dirty="0">
                <a:solidFill>
                  <a:srgbClr val="90C225"/>
                </a:solidFill>
                <a:latin typeface="Trebuchet MS"/>
                <a:cs typeface="Trebuchet MS"/>
              </a:rPr>
              <a:t>Top</a:t>
            </a:r>
            <a:r>
              <a:rPr sz="1800" b="1" spc="-7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90C225"/>
                </a:solidFill>
                <a:latin typeface="Trebuchet MS"/>
                <a:cs typeface="Trebuchet MS"/>
              </a:rPr>
              <a:t>Selling</a:t>
            </a:r>
            <a:r>
              <a:rPr sz="1800" b="1" spc="-7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90C225"/>
                </a:solidFill>
                <a:latin typeface="Trebuchet MS"/>
                <a:cs typeface="Trebuchet MS"/>
              </a:rPr>
              <a:t>Products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89700"/>
              </a:lnSpc>
              <a:spcBef>
                <a:spcPts val="105"/>
              </a:spcBef>
            </a:pPr>
            <a:r>
              <a:rPr sz="1600" b="1" dirty="0">
                <a:latin typeface="Trebuchet MS"/>
                <a:cs typeface="Trebuchet MS"/>
              </a:rPr>
              <a:t>Query:</a:t>
            </a:r>
            <a:r>
              <a:rPr sz="1600" b="1" spc="-3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SELECT Product,</a:t>
            </a:r>
            <a:r>
              <a:rPr sz="1200" b="1" spc="30" dirty="0">
                <a:latin typeface="Trebuchet MS"/>
                <a:cs typeface="Trebuchet MS"/>
              </a:rPr>
              <a:t> </a:t>
            </a:r>
            <a:r>
              <a:rPr sz="1200" b="1" spc="-20" dirty="0">
                <a:latin typeface="Trebuchet MS"/>
                <a:cs typeface="Trebuchet MS"/>
              </a:rPr>
              <a:t>SUM(Total_Sales)</a:t>
            </a:r>
            <a:r>
              <a:rPr sz="1200" b="1" spc="-145" dirty="0">
                <a:latin typeface="Trebuchet MS"/>
                <a:cs typeface="Trebuchet MS"/>
              </a:rPr>
              <a:t> </a:t>
            </a:r>
            <a:r>
              <a:rPr sz="1200" b="1" spc="-25" dirty="0">
                <a:latin typeface="Trebuchet MS"/>
                <a:cs typeface="Trebuchet MS"/>
              </a:rPr>
              <a:t>AS </a:t>
            </a:r>
            <a:r>
              <a:rPr sz="1200" b="1" spc="-20" dirty="0">
                <a:latin typeface="Trebuchet MS"/>
                <a:cs typeface="Trebuchet MS"/>
              </a:rPr>
              <a:t>Total_Sales</a:t>
            </a:r>
            <a:r>
              <a:rPr sz="1200" b="1" spc="-7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FROM</a:t>
            </a:r>
            <a:r>
              <a:rPr sz="1200" b="1" spc="-30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ApexPlanet_DataAnalytics_Dataset </a:t>
            </a:r>
            <a:r>
              <a:rPr sz="1200" b="1" dirty="0">
                <a:latin typeface="Trebuchet MS"/>
                <a:cs typeface="Trebuchet MS"/>
              </a:rPr>
              <a:t>GROUP</a:t>
            </a:r>
            <a:r>
              <a:rPr sz="1200" b="1" spc="-4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BY</a:t>
            </a:r>
            <a:r>
              <a:rPr sz="1200" b="1" spc="-5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Product</a:t>
            </a:r>
            <a:r>
              <a:rPr sz="1200" b="1" spc="-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ORDER</a:t>
            </a:r>
            <a:r>
              <a:rPr sz="1200" b="1" spc="2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BY</a:t>
            </a:r>
            <a:r>
              <a:rPr sz="1200" b="1" spc="-50" dirty="0">
                <a:latin typeface="Trebuchet MS"/>
                <a:cs typeface="Trebuchet MS"/>
              </a:rPr>
              <a:t> </a:t>
            </a:r>
            <a:r>
              <a:rPr sz="1200" b="1" spc="-20" dirty="0">
                <a:latin typeface="Trebuchet MS"/>
                <a:cs typeface="Trebuchet MS"/>
              </a:rPr>
              <a:t>Total_Sales</a:t>
            </a:r>
            <a:r>
              <a:rPr sz="1200" b="1" spc="-90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DESC</a:t>
            </a:r>
            <a:r>
              <a:rPr sz="1800" b="1" spc="-10" dirty="0">
                <a:solidFill>
                  <a:srgbClr val="90C225"/>
                </a:solidFill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5876" y="3081273"/>
            <a:ext cx="3796029" cy="1839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140" indent="-219075">
              <a:lnSpc>
                <a:spcPts val="2070"/>
              </a:lnSpc>
              <a:spcBef>
                <a:spcPts val="100"/>
              </a:spcBef>
              <a:buSzPct val="94444"/>
              <a:buAutoNum type="arabicPeriod" startAt="4"/>
              <a:tabLst>
                <a:tab pos="231140" algn="l"/>
              </a:tabLst>
            </a:pPr>
            <a:r>
              <a:rPr sz="1800" b="1" spc="-10" dirty="0">
                <a:solidFill>
                  <a:srgbClr val="90C225"/>
                </a:solidFill>
                <a:latin typeface="Trebuchet MS"/>
                <a:cs typeface="Trebuchet MS"/>
              </a:rPr>
              <a:t>Category-</a:t>
            </a:r>
            <a:r>
              <a:rPr sz="1800" b="1" dirty="0">
                <a:solidFill>
                  <a:srgbClr val="90C225"/>
                </a:solidFill>
                <a:latin typeface="Trebuchet MS"/>
                <a:cs typeface="Trebuchet MS"/>
              </a:rPr>
              <a:t>wise</a:t>
            </a:r>
            <a:r>
              <a:rPr sz="1800" b="1" spc="-4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90C225"/>
                </a:solidFill>
                <a:latin typeface="Trebuchet MS"/>
                <a:cs typeface="Trebuchet MS"/>
              </a:rPr>
              <a:t>Sales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90800"/>
              </a:lnSpc>
              <a:spcBef>
                <a:spcPts val="85"/>
              </a:spcBef>
            </a:pPr>
            <a:r>
              <a:rPr sz="1600" b="1" dirty="0">
                <a:latin typeface="Trebuchet MS"/>
                <a:cs typeface="Trebuchet MS"/>
              </a:rPr>
              <a:t>Query:</a:t>
            </a:r>
            <a:r>
              <a:rPr sz="1600" b="1" spc="-5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SELECT</a:t>
            </a:r>
            <a:r>
              <a:rPr sz="1200" b="1" spc="-5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Category,</a:t>
            </a:r>
            <a:r>
              <a:rPr sz="1200" b="1" dirty="0">
                <a:latin typeface="Trebuchet MS"/>
                <a:cs typeface="Trebuchet MS"/>
              </a:rPr>
              <a:t> </a:t>
            </a:r>
            <a:r>
              <a:rPr sz="1200" b="1" spc="-20" dirty="0">
                <a:latin typeface="Trebuchet MS"/>
                <a:cs typeface="Trebuchet MS"/>
              </a:rPr>
              <a:t>SUM(Total_Sales)</a:t>
            </a:r>
            <a:r>
              <a:rPr sz="1200" b="1" spc="-130" dirty="0">
                <a:latin typeface="Trebuchet MS"/>
                <a:cs typeface="Trebuchet MS"/>
              </a:rPr>
              <a:t> </a:t>
            </a:r>
            <a:r>
              <a:rPr sz="1200" b="1" spc="-25" dirty="0">
                <a:latin typeface="Trebuchet MS"/>
                <a:cs typeface="Trebuchet MS"/>
              </a:rPr>
              <a:t>AS </a:t>
            </a:r>
            <a:r>
              <a:rPr sz="1200" b="1" spc="-20" dirty="0">
                <a:latin typeface="Trebuchet MS"/>
                <a:cs typeface="Trebuchet MS"/>
              </a:rPr>
              <a:t>Total_Sales</a:t>
            </a:r>
            <a:r>
              <a:rPr sz="1200" b="1" spc="-6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FROM</a:t>
            </a:r>
            <a:r>
              <a:rPr sz="1200" b="1" spc="-20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ApexPlanet_DataAnalytics_Dataset </a:t>
            </a:r>
            <a:r>
              <a:rPr sz="1200" b="1" dirty="0">
                <a:latin typeface="Trebuchet MS"/>
                <a:cs typeface="Trebuchet MS"/>
              </a:rPr>
              <a:t>GROUP</a:t>
            </a:r>
            <a:r>
              <a:rPr sz="1200" b="1" spc="-4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BY</a:t>
            </a:r>
            <a:r>
              <a:rPr sz="1200" b="1" spc="-5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Category</a:t>
            </a:r>
            <a:r>
              <a:rPr sz="1200" b="1" spc="-3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ORDER</a:t>
            </a:r>
            <a:r>
              <a:rPr sz="1200" b="1" spc="2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BY</a:t>
            </a:r>
            <a:r>
              <a:rPr sz="1200" b="1" spc="-50" dirty="0">
                <a:latin typeface="Trebuchet MS"/>
                <a:cs typeface="Trebuchet MS"/>
              </a:rPr>
              <a:t> </a:t>
            </a:r>
            <a:r>
              <a:rPr sz="1200" b="1" spc="-20" dirty="0">
                <a:latin typeface="Trebuchet MS"/>
                <a:cs typeface="Trebuchet MS"/>
              </a:rPr>
              <a:t>Total_Sales</a:t>
            </a:r>
            <a:r>
              <a:rPr sz="1200" b="1" spc="-90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DESC;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800" b="1" dirty="0">
                <a:solidFill>
                  <a:srgbClr val="90C225"/>
                </a:solidFill>
                <a:latin typeface="Trebuchet MS"/>
                <a:cs typeface="Trebuchet MS"/>
              </a:rPr>
              <a:t>Key</a:t>
            </a:r>
            <a:r>
              <a:rPr sz="1800" b="1" spc="-4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90C225"/>
                </a:solidFill>
                <a:latin typeface="Trebuchet MS"/>
                <a:cs typeface="Trebuchet MS"/>
              </a:rPr>
              <a:t>Insights</a:t>
            </a:r>
            <a:endParaRPr sz="1800">
              <a:latin typeface="Trebuchet MS"/>
              <a:cs typeface="Trebuchet MS"/>
            </a:endParaRPr>
          </a:p>
          <a:p>
            <a:pPr marL="200660" lvl="1" indent="-187960">
              <a:lnSpc>
                <a:spcPct val="100000"/>
              </a:lnSpc>
              <a:spcBef>
                <a:spcPts val="385"/>
              </a:spcBef>
              <a:buClr>
                <a:srgbClr val="90C225"/>
              </a:buClr>
              <a:buSzPct val="150000"/>
              <a:buChar char="•"/>
              <a:tabLst>
                <a:tab pos="200660" algn="l"/>
              </a:tabLst>
            </a:pPr>
            <a:r>
              <a:rPr sz="1200" b="1" dirty="0">
                <a:latin typeface="Trebuchet MS"/>
                <a:cs typeface="Trebuchet MS"/>
              </a:rPr>
              <a:t>SQL</a:t>
            </a:r>
            <a:r>
              <a:rPr sz="1200" b="1" spc="-5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enabled</a:t>
            </a:r>
            <a:r>
              <a:rPr sz="1200" b="1" spc="-6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quick business</a:t>
            </a:r>
            <a:r>
              <a:rPr sz="1200" b="1" spc="-70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analysis.</a:t>
            </a:r>
            <a:endParaRPr sz="1200">
              <a:latin typeface="Trebuchet MS"/>
              <a:cs typeface="Trebuchet MS"/>
            </a:endParaRPr>
          </a:p>
          <a:p>
            <a:pPr marL="137160" lvl="1" indent="-124460">
              <a:lnSpc>
                <a:spcPts val="1370"/>
              </a:lnSpc>
              <a:spcBef>
                <a:spcPts val="5"/>
              </a:spcBef>
              <a:buChar char="•"/>
              <a:tabLst>
                <a:tab pos="137160" algn="l"/>
              </a:tabLst>
            </a:pPr>
            <a:r>
              <a:rPr sz="1200" b="1" dirty="0">
                <a:latin typeface="Trebuchet MS"/>
                <a:cs typeface="Trebuchet MS"/>
              </a:rPr>
              <a:t>Identified</a:t>
            </a:r>
            <a:r>
              <a:rPr sz="1200" b="1" spc="-45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top-</a:t>
            </a:r>
            <a:r>
              <a:rPr sz="1200" b="1" dirty="0">
                <a:latin typeface="Trebuchet MS"/>
                <a:cs typeface="Trebuchet MS"/>
              </a:rPr>
              <a:t>performing</a:t>
            </a:r>
            <a:r>
              <a:rPr sz="1200" b="1" spc="-25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products.</a:t>
            </a:r>
            <a:endParaRPr sz="1200">
              <a:latin typeface="Trebuchet MS"/>
              <a:cs typeface="Trebuchet MS"/>
            </a:endParaRPr>
          </a:p>
          <a:p>
            <a:pPr marL="137160" lvl="1" indent="-124460">
              <a:lnSpc>
                <a:spcPts val="1370"/>
              </a:lnSpc>
              <a:buChar char="•"/>
              <a:tabLst>
                <a:tab pos="137160" algn="l"/>
              </a:tabLst>
            </a:pPr>
            <a:r>
              <a:rPr sz="1200" b="1" dirty="0">
                <a:latin typeface="Trebuchet MS"/>
                <a:cs typeface="Trebuchet MS"/>
              </a:rPr>
              <a:t>Summarized</a:t>
            </a:r>
            <a:r>
              <a:rPr sz="1200" b="1" spc="-4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sales</a:t>
            </a:r>
            <a:r>
              <a:rPr sz="1200" b="1" spc="-7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information</a:t>
            </a:r>
            <a:r>
              <a:rPr sz="1200" b="1" spc="-25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efficiently.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47" y="12191"/>
            <a:ext cx="841375" cy="5666740"/>
          </a:xfrm>
          <a:custGeom>
            <a:avLst/>
            <a:gdLst/>
            <a:ahLst/>
            <a:cxnLst/>
            <a:rect l="l" t="t" r="r" b="b"/>
            <a:pathLst>
              <a:path w="841375" h="5666740">
                <a:moveTo>
                  <a:pt x="841248" y="0"/>
                </a:moveTo>
                <a:lnTo>
                  <a:pt x="0" y="0"/>
                </a:lnTo>
                <a:lnTo>
                  <a:pt x="0" y="5666232"/>
                </a:lnTo>
                <a:lnTo>
                  <a:pt x="841248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2976" y="2831592"/>
            <a:ext cx="5809487" cy="3270504"/>
          </a:xfrm>
          <a:prstGeom prst="rect">
            <a:avLst/>
          </a:prstGeom>
        </p:spPr>
      </p:pic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5644134" y="1446987"/>
            <a:ext cx="571944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000000"/>
                </a:solidFill>
                <a:latin typeface="Trebuchet MS"/>
                <a:cs typeface="Trebuchet MS"/>
              </a:rPr>
              <a:t>1.Total</a:t>
            </a:r>
            <a:r>
              <a:rPr sz="1800" b="1" spc="-7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000000"/>
                </a:solidFill>
                <a:latin typeface="Trebuchet MS"/>
                <a:cs typeface="Trebuchet MS"/>
              </a:rPr>
              <a:t>Sales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000000"/>
                </a:solidFill>
                <a:latin typeface="Trebuchet MS"/>
                <a:cs typeface="Trebuchet MS"/>
              </a:rPr>
              <a:t>Query:</a:t>
            </a:r>
            <a:r>
              <a:rPr sz="1800" b="1" spc="-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000000"/>
                </a:solidFill>
                <a:latin typeface="Trebuchet MS"/>
                <a:cs typeface="Trebuchet MS"/>
              </a:rPr>
              <a:t>SELECT</a:t>
            </a:r>
            <a:r>
              <a:rPr sz="1800" b="1" spc="-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800" b="1" spc="-25" dirty="0">
                <a:solidFill>
                  <a:srgbClr val="000000"/>
                </a:solidFill>
                <a:latin typeface="Trebuchet MS"/>
                <a:cs typeface="Trebuchet MS"/>
              </a:rPr>
              <a:t>SUM(Total_Sales)</a:t>
            </a:r>
            <a:r>
              <a:rPr sz="1800" b="1" spc="-10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000000"/>
                </a:solidFill>
                <a:latin typeface="Trebuchet MS"/>
                <a:cs typeface="Trebuchet MS"/>
              </a:rPr>
              <a:t>AS</a:t>
            </a:r>
            <a:r>
              <a:rPr sz="1800" b="1" spc="-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800" b="1" spc="-25" dirty="0">
                <a:solidFill>
                  <a:srgbClr val="000000"/>
                </a:solidFill>
                <a:latin typeface="Trebuchet MS"/>
                <a:cs typeface="Trebuchet MS"/>
              </a:rPr>
              <a:t>Total_Sales</a:t>
            </a:r>
            <a:r>
              <a:rPr sz="1800" b="1" spc="-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000000"/>
                </a:solidFill>
                <a:latin typeface="Trebuchet MS"/>
                <a:cs typeface="Trebuchet MS"/>
              </a:rPr>
              <a:t>FROM </a:t>
            </a:r>
            <a:r>
              <a:rPr sz="1800" b="1" spc="-10" dirty="0">
                <a:solidFill>
                  <a:srgbClr val="000000"/>
                </a:solidFill>
                <a:latin typeface="Trebuchet MS"/>
                <a:cs typeface="Trebuchet MS"/>
              </a:rPr>
              <a:t>ApexPlanet_DataAnalytics_Dataset;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21880" y="-3047"/>
            <a:ext cx="4772660" cy="6868159"/>
            <a:chOff x="7421880" y="-3047"/>
            <a:chExt cx="4772660" cy="6868159"/>
          </a:xfrm>
        </p:grpSpPr>
        <p:sp>
          <p:nvSpPr>
            <p:cNvPr id="3" name="object 3"/>
            <p:cNvSpPr/>
            <p:nvPr/>
          </p:nvSpPr>
          <p:spPr>
            <a:xfrm>
              <a:off x="9371076" y="1524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426452" y="3683507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ln w="9143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80576" y="0"/>
              <a:ext cx="3008630" cy="6858000"/>
            </a:xfrm>
            <a:custGeom>
              <a:avLst/>
              <a:gdLst/>
              <a:ahLst/>
              <a:cxnLst/>
              <a:rect l="l" t="t" r="r" b="b"/>
              <a:pathLst>
                <a:path w="3008629" h="6858000">
                  <a:moveTo>
                    <a:pt x="3008375" y="0"/>
                  </a:moveTo>
                  <a:lnTo>
                    <a:pt x="2043499" y="0"/>
                  </a:lnTo>
                  <a:lnTo>
                    <a:pt x="0" y="6858000"/>
                  </a:lnTo>
                  <a:lnTo>
                    <a:pt x="3008375" y="6858000"/>
                  </a:lnTo>
                  <a:lnTo>
                    <a:pt x="3008375" y="0"/>
                  </a:lnTo>
                  <a:close/>
                </a:path>
              </a:pathLst>
            </a:custGeom>
            <a:solidFill>
              <a:srgbClr val="90C225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05858" y="0"/>
              <a:ext cx="2586355" cy="6858000"/>
            </a:xfrm>
            <a:custGeom>
              <a:avLst/>
              <a:gdLst/>
              <a:ahLst/>
              <a:cxnLst/>
              <a:rect l="l" t="t" r="r" b="b"/>
              <a:pathLst>
                <a:path w="2586354" h="6858000">
                  <a:moveTo>
                    <a:pt x="2586142" y="0"/>
                  </a:moveTo>
                  <a:lnTo>
                    <a:pt x="0" y="0"/>
                  </a:lnTo>
                  <a:lnTo>
                    <a:pt x="1207430" y="6857999"/>
                  </a:lnTo>
                  <a:lnTo>
                    <a:pt x="2586142" y="6857999"/>
                  </a:lnTo>
                  <a:lnTo>
                    <a:pt x="2586142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33688" y="3048000"/>
              <a:ext cx="3258820" cy="3810000"/>
            </a:xfrm>
            <a:custGeom>
              <a:avLst/>
              <a:gdLst/>
              <a:ahLst/>
              <a:cxnLst/>
              <a:rect l="l" t="t" r="r" b="b"/>
              <a:pathLst>
                <a:path w="3258820" h="3810000">
                  <a:moveTo>
                    <a:pt x="3258311" y="0"/>
                  </a:moveTo>
                  <a:lnTo>
                    <a:pt x="0" y="3809999"/>
                  </a:lnTo>
                  <a:lnTo>
                    <a:pt x="3258311" y="3809999"/>
                  </a:lnTo>
                  <a:lnTo>
                    <a:pt x="3258311" y="0"/>
                  </a:lnTo>
                  <a:close/>
                </a:path>
              </a:pathLst>
            </a:custGeom>
            <a:solidFill>
              <a:srgbClr val="539F20">
                <a:alpha val="7215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39312" y="0"/>
              <a:ext cx="2849880" cy="6858000"/>
            </a:xfrm>
            <a:custGeom>
              <a:avLst/>
              <a:gdLst/>
              <a:ahLst/>
              <a:cxnLst/>
              <a:rect l="l" t="t" r="r" b="b"/>
              <a:pathLst>
                <a:path w="2849879" h="6858000">
                  <a:moveTo>
                    <a:pt x="2849639" y="0"/>
                  </a:moveTo>
                  <a:lnTo>
                    <a:pt x="0" y="0"/>
                  </a:lnTo>
                  <a:lnTo>
                    <a:pt x="2466226" y="6858000"/>
                  </a:lnTo>
                  <a:lnTo>
                    <a:pt x="2849639" y="6858000"/>
                  </a:lnTo>
                  <a:lnTo>
                    <a:pt x="2849639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99648" y="0"/>
              <a:ext cx="1289685" cy="6858000"/>
            </a:xfrm>
            <a:custGeom>
              <a:avLst/>
              <a:gdLst/>
              <a:ahLst/>
              <a:cxnLst/>
              <a:rect l="l" t="t" r="r" b="b"/>
              <a:pathLst>
                <a:path w="1289684" h="6858000">
                  <a:moveTo>
                    <a:pt x="1289303" y="0"/>
                  </a:moveTo>
                  <a:lnTo>
                    <a:pt x="1017691" y="0"/>
                  </a:lnTo>
                  <a:lnTo>
                    <a:pt x="0" y="6858000"/>
                  </a:lnTo>
                  <a:lnTo>
                    <a:pt x="1289303" y="6858000"/>
                  </a:lnTo>
                  <a:lnTo>
                    <a:pt x="1289303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>
                  <a:moveTo>
                    <a:pt x="1248203" y="0"/>
                  </a:moveTo>
                  <a:lnTo>
                    <a:pt x="0" y="0"/>
                  </a:lnTo>
                  <a:lnTo>
                    <a:pt x="1107741" y="6858000"/>
                  </a:lnTo>
                  <a:lnTo>
                    <a:pt x="1248203" y="6858000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90C225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72344" y="3590543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0" y="0"/>
            <a:ext cx="10137775" cy="6687820"/>
            <a:chOff x="0" y="0"/>
            <a:chExt cx="10137775" cy="6687820"/>
          </a:xfrm>
        </p:grpSpPr>
        <p:sp>
          <p:nvSpPr>
            <p:cNvPr id="13" name="object 13"/>
            <p:cNvSpPr/>
            <p:nvPr/>
          </p:nvSpPr>
          <p:spPr>
            <a:xfrm>
              <a:off x="0" y="0"/>
              <a:ext cx="841375" cy="5666740"/>
            </a:xfrm>
            <a:custGeom>
              <a:avLst/>
              <a:gdLst/>
              <a:ahLst/>
              <a:cxnLst/>
              <a:rect l="l" t="t" r="r" b="b"/>
              <a:pathLst>
                <a:path w="841375" h="5666740">
                  <a:moveTo>
                    <a:pt x="841247" y="0"/>
                  </a:moveTo>
                  <a:lnTo>
                    <a:pt x="0" y="0"/>
                  </a:lnTo>
                  <a:lnTo>
                    <a:pt x="0" y="5666232"/>
                  </a:lnTo>
                  <a:lnTo>
                    <a:pt x="841247" y="0"/>
                  </a:lnTo>
                  <a:close/>
                </a:path>
              </a:pathLst>
            </a:custGeom>
            <a:solidFill>
              <a:srgbClr val="90C225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5423" y="1575816"/>
              <a:ext cx="4285488" cy="22890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40935" y="4081271"/>
              <a:ext cx="5696712" cy="260604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958088" y="645032"/>
            <a:ext cx="2737485" cy="8521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945"/>
              </a:lnSpc>
              <a:spcBef>
                <a:spcPts val="105"/>
              </a:spcBef>
            </a:pPr>
            <a:r>
              <a:rPr sz="1700" b="1" dirty="0">
                <a:latin typeface="Trebuchet MS"/>
                <a:cs typeface="Trebuchet MS"/>
              </a:rPr>
              <a:t>2.</a:t>
            </a:r>
            <a:r>
              <a:rPr sz="1700" b="1" spc="-130" dirty="0">
                <a:latin typeface="Trebuchet MS"/>
                <a:cs typeface="Trebuchet MS"/>
              </a:rPr>
              <a:t> </a:t>
            </a:r>
            <a:r>
              <a:rPr sz="1700" b="1" spc="-10" dirty="0">
                <a:latin typeface="Trebuchet MS"/>
                <a:cs typeface="Trebuchet MS"/>
              </a:rPr>
              <a:t>Average</a:t>
            </a:r>
            <a:r>
              <a:rPr sz="1700" b="1" spc="-45" dirty="0">
                <a:latin typeface="Trebuchet MS"/>
                <a:cs typeface="Trebuchet MS"/>
              </a:rPr>
              <a:t> </a:t>
            </a:r>
            <a:r>
              <a:rPr sz="1700" b="1" spc="-20" dirty="0">
                <a:latin typeface="Trebuchet MS"/>
                <a:cs typeface="Trebuchet MS"/>
              </a:rPr>
              <a:t>Sales</a:t>
            </a:r>
            <a:endParaRPr sz="1700">
              <a:latin typeface="Trebuchet MS"/>
              <a:cs typeface="Trebuchet MS"/>
            </a:endParaRPr>
          </a:p>
          <a:p>
            <a:pPr marL="12700" marR="5080">
              <a:lnSpc>
                <a:spcPct val="91100"/>
              </a:lnSpc>
              <a:spcBef>
                <a:spcPts val="85"/>
              </a:spcBef>
            </a:pPr>
            <a:r>
              <a:rPr sz="1700" b="1" dirty="0">
                <a:latin typeface="Trebuchet MS"/>
                <a:cs typeface="Trebuchet MS"/>
              </a:rPr>
              <a:t>Query:</a:t>
            </a:r>
            <a:r>
              <a:rPr sz="1700" b="1" spc="50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SELECT</a:t>
            </a:r>
            <a:r>
              <a:rPr sz="1200" b="1" spc="-55" dirty="0">
                <a:latin typeface="Trebuchet MS"/>
                <a:cs typeface="Trebuchet MS"/>
              </a:rPr>
              <a:t> </a:t>
            </a:r>
            <a:r>
              <a:rPr sz="1200" b="1" spc="-25" dirty="0">
                <a:latin typeface="Trebuchet MS"/>
                <a:cs typeface="Trebuchet MS"/>
              </a:rPr>
              <a:t>AVG(Total_Sales)</a:t>
            </a:r>
            <a:r>
              <a:rPr sz="1200" b="1" spc="-110" dirty="0">
                <a:latin typeface="Trebuchet MS"/>
                <a:cs typeface="Trebuchet MS"/>
              </a:rPr>
              <a:t> </a:t>
            </a:r>
            <a:r>
              <a:rPr sz="1200" b="1" spc="-25" dirty="0">
                <a:latin typeface="Trebuchet MS"/>
                <a:cs typeface="Trebuchet MS"/>
              </a:rPr>
              <a:t>AS </a:t>
            </a:r>
            <a:r>
              <a:rPr sz="1200" b="1" spc="-10" dirty="0">
                <a:latin typeface="Trebuchet MS"/>
                <a:cs typeface="Trebuchet MS"/>
              </a:rPr>
              <a:t>Average_Sales </a:t>
            </a:r>
            <a:r>
              <a:rPr sz="1200" b="1" spc="-20" dirty="0">
                <a:latin typeface="Trebuchet MS"/>
                <a:cs typeface="Trebuchet MS"/>
              </a:rPr>
              <a:t>FROM </a:t>
            </a:r>
            <a:r>
              <a:rPr sz="1200" b="1" spc="-10" dirty="0">
                <a:latin typeface="Trebuchet MS"/>
                <a:cs typeface="Trebuchet MS"/>
              </a:rPr>
              <a:t>ApexPlanet_DataAnalytics_Dataset;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5128640" y="635965"/>
            <a:ext cx="5525770" cy="699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solidFill>
                  <a:srgbClr val="000000"/>
                </a:solidFill>
              </a:rPr>
              <a:t>3.</a:t>
            </a:r>
            <a:r>
              <a:rPr sz="1800" b="1" spc="-45" dirty="0">
                <a:solidFill>
                  <a:srgbClr val="000000"/>
                </a:solidFill>
                <a:latin typeface="Trebuchet MS"/>
                <a:cs typeface="Trebuchet MS"/>
              </a:rPr>
              <a:t>Top</a:t>
            </a:r>
            <a:r>
              <a:rPr sz="1800" b="1" spc="-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000000"/>
                </a:solidFill>
                <a:latin typeface="Trebuchet MS"/>
                <a:cs typeface="Trebuchet MS"/>
              </a:rPr>
              <a:t>Selling</a:t>
            </a:r>
            <a:r>
              <a:rPr sz="1800" b="1" spc="-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000000"/>
                </a:solidFill>
                <a:latin typeface="Trebuchet MS"/>
                <a:cs typeface="Trebuchet MS"/>
              </a:rPr>
              <a:t>Products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20"/>
              </a:spcBef>
            </a:pPr>
            <a:r>
              <a:rPr sz="1400" b="1" dirty="0">
                <a:solidFill>
                  <a:srgbClr val="000000"/>
                </a:solidFill>
                <a:latin typeface="Trebuchet MS"/>
                <a:cs typeface="Trebuchet MS"/>
              </a:rPr>
              <a:t>Query:</a:t>
            </a:r>
            <a:r>
              <a:rPr sz="1400" b="1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000000"/>
                </a:solidFill>
                <a:latin typeface="Trebuchet MS"/>
                <a:cs typeface="Trebuchet MS"/>
              </a:rPr>
              <a:t>SELECT</a:t>
            </a:r>
            <a:r>
              <a:rPr sz="1200" b="1" spc="-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000000"/>
                </a:solidFill>
                <a:latin typeface="Trebuchet MS"/>
                <a:cs typeface="Trebuchet MS"/>
              </a:rPr>
              <a:t>Product,</a:t>
            </a:r>
            <a:r>
              <a:rPr sz="1200" b="1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000000"/>
                </a:solidFill>
                <a:latin typeface="Trebuchet MS"/>
                <a:cs typeface="Trebuchet MS"/>
              </a:rPr>
              <a:t>SUM(Total_Sales)</a:t>
            </a:r>
            <a:r>
              <a:rPr sz="1200" b="1" spc="-15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000000"/>
                </a:solidFill>
                <a:latin typeface="Trebuchet MS"/>
                <a:cs typeface="Trebuchet MS"/>
              </a:rPr>
              <a:t>AS</a:t>
            </a:r>
            <a:r>
              <a:rPr sz="1200" b="1" spc="-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000000"/>
                </a:solidFill>
                <a:latin typeface="Trebuchet MS"/>
                <a:cs typeface="Trebuchet MS"/>
              </a:rPr>
              <a:t>Total_Sales</a:t>
            </a:r>
            <a:r>
              <a:rPr sz="1200" b="1" spc="-8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000000"/>
                </a:solidFill>
                <a:latin typeface="Trebuchet MS"/>
                <a:cs typeface="Trebuchet MS"/>
              </a:rPr>
              <a:t>FROM </a:t>
            </a:r>
            <a:r>
              <a:rPr sz="1200" b="1" spc="-10" dirty="0">
                <a:solidFill>
                  <a:srgbClr val="000000"/>
                </a:solidFill>
                <a:latin typeface="Trebuchet MS"/>
                <a:cs typeface="Trebuchet MS"/>
              </a:rPr>
              <a:t>ApexPlanet_DataAnalytics_Dataset</a:t>
            </a:r>
            <a:r>
              <a:rPr sz="1200" b="1" spc="-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000000"/>
                </a:solidFill>
                <a:latin typeface="Trebuchet MS"/>
                <a:cs typeface="Trebuchet MS"/>
              </a:rPr>
              <a:t>GROUP</a:t>
            </a:r>
            <a:r>
              <a:rPr sz="1200" b="1" spc="-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000000"/>
                </a:solidFill>
                <a:latin typeface="Trebuchet MS"/>
                <a:cs typeface="Trebuchet MS"/>
              </a:rPr>
              <a:t>BY</a:t>
            </a:r>
            <a:r>
              <a:rPr sz="1200" b="1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000000"/>
                </a:solidFill>
                <a:latin typeface="Trebuchet MS"/>
                <a:cs typeface="Trebuchet MS"/>
              </a:rPr>
              <a:t>Product</a:t>
            </a:r>
            <a:r>
              <a:rPr sz="1200" b="1" spc="38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000000"/>
                </a:solidFill>
                <a:latin typeface="Trebuchet MS"/>
                <a:cs typeface="Trebuchet MS"/>
              </a:rPr>
              <a:t>ORDER</a:t>
            </a:r>
            <a:r>
              <a:rPr sz="1200" b="1" spc="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000000"/>
                </a:solidFill>
                <a:latin typeface="Trebuchet MS"/>
                <a:cs typeface="Trebuchet MS"/>
              </a:rPr>
              <a:t>BY</a:t>
            </a:r>
            <a:r>
              <a:rPr sz="1200" b="1" spc="-2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000000"/>
                </a:solidFill>
                <a:latin typeface="Trebuchet MS"/>
                <a:cs typeface="Trebuchet MS"/>
              </a:rPr>
              <a:t>Total_Sales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38215" y="1444752"/>
            <a:ext cx="4977384" cy="2420112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921511" y="4147565"/>
            <a:ext cx="3136900" cy="1096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20" dirty="0">
                <a:latin typeface="Trebuchet MS"/>
                <a:cs typeface="Trebuchet MS"/>
              </a:rPr>
              <a:t>4.Category-</a:t>
            </a:r>
            <a:r>
              <a:rPr sz="2000" b="1" dirty="0">
                <a:latin typeface="Trebuchet MS"/>
                <a:cs typeface="Trebuchet MS"/>
              </a:rPr>
              <a:t>wise</a:t>
            </a:r>
            <a:r>
              <a:rPr sz="2000" b="1" spc="90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Sales</a:t>
            </a:r>
            <a:endParaRPr sz="20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sz="1400" b="1" dirty="0">
                <a:latin typeface="Trebuchet MS"/>
                <a:cs typeface="Trebuchet MS"/>
              </a:rPr>
              <a:t>Query:</a:t>
            </a:r>
            <a:r>
              <a:rPr sz="1400" b="1" spc="-1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SELECT</a:t>
            </a:r>
            <a:r>
              <a:rPr sz="1200" b="1" spc="-40" dirty="0">
                <a:latin typeface="Trebuchet MS"/>
                <a:cs typeface="Trebuchet MS"/>
              </a:rPr>
              <a:t> </a:t>
            </a:r>
            <a:r>
              <a:rPr sz="1200" b="1" spc="-20" dirty="0">
                <a:latin typeface="Trebuchet MS"/>
                <a:cs typeface="Trebuchet MS"/>
              </a:rPr>
              <a:t>Category,</a:t>
            </a:r>
            <a:r>
              <a:rPr sz="1200" b="1" spc="-35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SUM(Total_Sales) </a:t>
            </a:r>
            <a:r>
              <a:rPr sz="1200" b="1" dirty="0">
                <a:latin typeface="Trebuchet MS"/>
                <a:cs typeface="Trebuchet MS"/>
              </a:rPr>
              <a:t>AS</a:t>
            </a:r>
            <a:r>
              <a:rPr sz="1200" b="1" spc="15" dirty="0">
                <a:latin typeface="Trebuchet MS"/>
                <a:cs typeface="Trebuchet MS"/>
              </a:rPr>
              <a:t> </a:t>
            </a:r>
            <a:r>
              <a:rPr sz="1200" b="1" spc="-20" dirty="0">
                <a:latin typeface="Trebuchet MS"/>
                <a:cs typeface="Trebuchet MS"/>
              </a:rPr>
              <a:t>Total_Sales</a:t>
            </a:r>
            <a:r>
              <a:rPr sz="1200" b="1" spc="-30" dirty="0">
                <a:latin typeface="Trebuchet MS"/>
                <a:cs typeface="Trebuchet MS"/>
              </a:rPr>
              <a:t> </a:t>
            </a:r>
            <a:r>
              <a:rPr sz="1200" b="1" spc="-20" dirty="0">
                <a:latin typeface="Trebuchet MS"/>
                <a:cs typeface="Trebuchet MS"/>
              </a:rPr>
              <a:t>FROM </a:t>
            </a:r>
            <a:r>
              <a:rPr sz="1200" b="1" spc="-10" dirty="0">
                <a:latin typeface="Trebuchet MS"/>
                <a:cs typeface="Trebuchet MS"/>
              </a:rPr>
              <a:t>ApexPlanet_DataAnalytics_Dataset</a:t>
            </a:r>
            <a:r>
              <a:rPr sz="1200" b="1" spc="150" dirty="0">
                <a:latin typeface="Trebuchet MS"/>
                <a:cs typeface="Trebuchet MS"/>
              </a:rPr>
              <a:t> </a:t>
            </a:r>
            <a:r>
              <a:rPr sz="1200" b="1" spc="-20" dirty="0">
                <a:latin typeface="Trebuchet MS"/>
                <a:cs typeface="Trebuchet MS"/>
              </a:rPr>
              <a:t>GROUP </a:t>
            </a:r>
            <a:r>
              <a:rPr sz="1200" b="1" dirty="0">
                <a:latin typeface="Trebuchet MS"/>
                <a:cs typeface="Trebuchet MS"/>
              </a:rPr>
              <a:t>BY</a:t>
            </a:r>
            <a:r>
              <a:rPr sz="1200" b="1" spc="-2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Category</a:t>
            </a:r>
            <a:r>
              <a:rPr sz="1200" b="1" spc="-2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ORDER</a:t>
            </a:r>
            <a:r>
              <a:rPr sz="1200" b="1" spc="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BY</a:t>
            </a:r>
            <a:r>
              <a:rPr sz="1200" b="1" spc="-30" dirty="0">
                <a:latin typeface="Trebuchet MS"/>
                <a:cs typeface="Trebuchet MS"/>
              </a:rPr>
              <a:t> </a:t>
            </a:r>
            <a:r>
              <a:rPr sz="1200" b="1" spc="-20" dirty="0">
                <a:latin typeface="Trebuchet MS"/>
                <a:cs typeface="Trebuchet MS"/>
              </a:rPr>
              <a:t>Total_Sales</a:t>
            </a:r>
            <a:r>
              <a:rPr sz="1200" b="1" spc="-80" dirty="0">
                <a:latin typeface="Trebuchet MS"/>
                <a:cs typeface="Trebuchet MS"/>
              </a:rPr>
              <a:t> </a:t>
            </a:r>
            <a:r>
              <a:rPr sz="1200" b="1" spc="-20" dirty="0">
                <a:latin typeface="Trebuchet MS"/>
                <a:cs typeface="Trebuchet MS"/>
              </a:rPr>
              <a:t>DESC;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293" rIns="0" bIns="0" rtlCol="0">
            <a:spAutoFit/>
          </a:bodyPr>
          <a:lstStyle/>
          <a:p>
            <a:pPr marL="2579370">
              <a:lnSpc>
                <a:spcPct val="100000"/>
              </a:lnSpc>
              <a:spcBef>
                <a:spcPts val="90"/>
              </a:spcBef>
            </a:pPr>
            <a:r>
              <a:rPr sz="3200" dirty="0">
                <a:solidFill>
                  <a:srgbClr val="90C225"/>
                </a:solidFill>
              </a:rPr>
              <a:t>Power</a:t>
            </a:r>
            <a:r>
              <a:rPr sz="3200" spc="-114" dirty="0">
                <a:solidFill>
                  <a:srgbClr val="90C225"/>
                </a:solidFill>
              </a:rPr>
              <a:t> </a:t>
            </a:r>
            <a:r>
              <a:rPr sz="3200" dirty="0">
                <a:solidFill>
                  <a:srgbClr val="90C225"/>
                </a:solidFill>
              </a:rPr>
              <a:t>BI</a:t>
            </a:r>
            <a:r>
              <a:rPr sz="3200" spc="-125" dirty="0">
                <a:solidFill>
                  <a:srgbClr val="90C225"/>
                </a:solidFill>
              </a:rPr>
              <a:t> </a:t>
            </a:r>
            <a:r>
              <a:rPr sz="3200" spc="-10" dirty="0">
                <a:solidFill>
                  <a:srgbClr val="90C225"/>
                </a:solidFill>
              </a:rPr>
              <a:t>Dashboard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172972" y="1394841"/>
            <a:ext cx="4940935" cy="527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20" dirty="0">
                <a:solidFill>
                  <a:srgbClr val="90C225"/>
                </a:solidFill>
                <a:latin typeface="Trebuchet MS"/>
                <a:cs typeface="Trebuchet MS"/>
              </a:rPr>
              <a:t>KPIs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600" dirty="0">
                <a:latin typeface="Segoe UI Symbol"/>
                <a:cs typeface="Segoe UI Symbol"/>
              </a:rPr>
              <a:t>✔</a:t>
            </a:r>
            <a:r>
              <a:rPr sz="1600" spc="-10" dirty="0">
                <a:latin typeface="Segoe UI Symbol"/>
                <a:cs typeface="Segoe UI Symbol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Total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Sales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Segoe UI Symbol"/>
                <a:cs typeface="Segoe UI Symbol"/>
              </a:rPr>
              <a:t>✔</a:t>
            </a:r>
            <a:r>
              <a:rPr sz="1600" spc="-15" dirty="0">
                <a:latin typeface="Segoe UI Symbol"/>
                <a:cs typeface="Segoe UI Symbol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Total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Orders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Segoe UI Symbol"/>
                <a:cs typeface="Segoe UI Symbol"/>
              </a:rPr>
              <a:t>✔</a:t>
            </a:r>
            <a:r>
              <a:rPr sz="1600" spc="-65" dirty="0">
                <a:latin typeface="Segoe UI Symbol"/>
                <a:cs typeface="Segoe UI Symbol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Average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Sales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Segoe UI Symbol"/>
                <a:cs typeface="Segoe UI Symbol"/>
              </a:rPr>
              <a:t>✔</a:t>
            </a:r>
            <a:r>
              <a:rPr sz="1600" spc="-10" dirty="0">
                <a:latin typeface="Segoe UI Symbol"/>
                <a:cs typeface="Segoe UI Symbol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Total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Quantity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Sold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90C225"/>
                </a:solidFill>
                <a:latin typeface="Trebuchet MS"/>
                <a:cs typeface="Trebuchet MS"/>
              </a:rPr>
              <a:t>Interactive</a:t>
            </a:r>
            <a:r>
              <a:rPr sz="2000" spc="-8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90C225"/>
                </a:solidFill>
                <a:latin typeface="Trebuchet MS"/>
                <a:cs typeface="Trebuchet MS"/>
              </a:rPr>
              <a:t>Filters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600" dirty="0">
                <a:latin typeface="Segoe UI Symbol"/>
                <a:cs typeface="Segoe UI Symbol"/>
              </a:rPr>
              <a:t>✔</a:t>
            </a:r>
            <a:r>
              <a:rPr sz="1600" spc="35" dirty="0">
                <a:latin typeface="Segoe UI Symbol"/>
                <a:cs typeface="Segoe UI Symbol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Category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Segoe UI Symbol"/>
                <a:cs typeface="Segoe UI Symbol"/>
              </a:rPr>
              <a:t>✔</a:t>
            </a:r>
            <a:r>
              <a:rPr sz="1600" spc="50" dirty="0">
                <a:latin typeface="Segoe UI Symbol"/>
                <a:cs typeface="Segoe UI Symbol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Product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Segoe UI Symbol"/>
                <a:cs typeface="Segoe UI Symbol"/>
              </a:rPr>
              <a:t>✔</a:t>
            </a:r>
            <a:r>
              <a:rPr sz="1600" spc="40" dirty="0">
                <a:latin typeface="Segoe UI Symbol"/>
                <a:cs typeface="Segoe UI Symbol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City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Segoe UI Symbol"/>
                <a:cs typeface="Segoe UI Symbol"/>
              </a:rPr>
              <a:t>✔</a:t>
            </a:r>
            <a:r>
              <a:rPr sz="1600" spc="45" dirty="0">
                <a:latin typeface="Segoe UI Symbol"/>
                <a:cs typeface="Segoe UI Symbol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Gender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90C225"/>
                </a:solidFill>
                <a:latin typeface="Trebuchet MS"/>
                <a:cs typeface="Trebuchet MS"/>
              </a:rPr>
              <a:t>Visualizations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dirty="0">
                <a:latin typeface="Segoe UI Symbol"/>
                <a:cs typeface="Segoe UI Symbol"/>
              </a:rPr>
              <a:t>✔</a:t>
            </a:r>
            <a:r>
              <a:rPr sz="1600" spc="50" dirty="0">
                <a:latin typeface="Segoe UI Symbol"/>
                <a:cs typeface="Segoe UI Symbol"/>
              </a:rPr>
              <a:t> </a:t>
            </a:r>
            <a:r>
              <a:rPr sz="1600" dirty="0">
                <a:latin typeface="Trebuchet MS"/>
                <a:cs typeface="Trebuchet MS"/>
              </a:rPr>
              <a:t>Bar</a:t>
            </a:r>
            <a:r>
              <a:rPr sz="1600" spc="-10" dirty="0">
                <a:latin typeface="Trebuchet MS"/>
                <a:cs typeface="Trebuchet MS"/>
              </a:rPr>
              <a:t> Chart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Segoe UI Symbol"/>
                <a:cs typeface="Segoe UI Symbol"/>
              </a:rPr>
              <a:t>✔</a:t>
            </a:r>
            <a:r>
              <a:rPr sz="1600" spc="50" dirty="0">
                <a:latin typeface="Segoe UI Symbol"/>
                <a:cs typeface="Segoe UI Symbol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Histogram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Segoe UI Symbol"/>
                <a:cs typeface="Segoe UI Symbol"/>
              </a:rPr>
              <a:t>✔</a:t>
            </a:r>
            <a:r>
              <a:rPr sz="1600" spc="45" dirty="0">
                <a:latin typeface="Segoe UI Symbol"/>
                <a:cs typeface="Segoe UI Symbol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Heatmap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Segoe UI Symbol"/>
                <a:cs typeface="Segoe UI Symbol"/>
              </a:rPr>
              <a:t>✔</a:t>
            </a:r>
            <a:r>
              <a:rPr sz="1600" spc="45" dirty="0">
                <a:latin typeface="Segoe UI Symbol"/>
                <a:cs typeface="Segoe UI Symbol"/>
              </a:rPr>
              <a:t> </a:t>
            </a:r>
            <a:r>
              <a:rPr sz="1600" dirty="0">
                <a:latin typeface="Trebuchet MS"/>
                <a:cs typeface="Trebuchet MS"/>
              </a:rPr>
              <a:t>KPI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Cards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90C225"/>
                </a:solidFill>
                <a:latin typeface="Trebuchet MS"/>
                <a:cs typeface="Trebuchet MS"/>
              </a:rPr>
              <a:t>Key</a:t>
            </a:r>
            <a:r>
              <a:rPr sz="2000" spc="-10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90C225"/>
                </a:solidFill>
                <a:latin typeface="Trebuchet MS"/>
                <a:cs typeface="Trebuchet MS"/>
              </a:rPr>
              <a:t>Benefit</a:t>
            </a:r>
            <a:endParaRPr sz="2000">
              <a:latin typeface="Trebuchet MS"/>
              <a:cs typeface="Trebuchet MS"/>
            </a:endParaRPr>
          </a:p>
          <a:p>
            <a:pPr marL="180340" indent="-167640">
              <a:lnSpc>
                <a:spcPct val="100000"/>
              </a:lnSpc>
              <a:spcBef>
                <a:spcPts val="15"/>
              </a:spcBef>
              <a:buChar char="•"/>
              <a:tabLst>
                <a:tab pos="180340" algn="l"/>
              </a:tabLst>
            </a:pPr>
            <a:r>
              <a:rPr sz="1600" dirty="0">
                <a:latin typeface="Trebuchet MS"/>
                <a:cs typeface="Trebuchet MS"/>
              </a:rPr>
              <a:t>Interactive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dashboard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for business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decision-making.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6759" y="1868423"/>
            <a:ext cx="5769864" cy="39105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21880" y="-3047"/>
            <a:ext cx="4772660" cy="6868159"/>
            <a:chOff x="7421880" y="-3047"/>
            <a:chExt cx="4772660" cy="6868159"/>
          </a:xfrm>
        </p:grpSpPr>
        <p:sp>
          <p:nvSpPr>
            <p:cNvPr id="3" name="object 3"/>
            <p:cNvSpPr/>
            <p:nvPr/>
          </p:nvSpPr>
          <p:spPr>
            <a:xfrm>
              <a:off x="9371076" y="1524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426452" y="3683507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ln w="9143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80576" y="0"/>
              <a:ext cx="3008630" cy="6858000"/>
            </a:xfrm>
            <a:custGeom>
              <a:avLst/>
              <a:gdLst/>
              <a:ahLst/>
              <a:cxnLst/>
              <a:rect l="l" t="t" r="r" b="b"/>
              <a:pathLst>
                <a:path w="3008629" h="6858000">
                  <a:moveTo>
                    <a:pt x="3008375" y="0"/>
                  </a:moveTo>
                  <a:lnTo>
                    <a:pt x="2043499" y="0"/>
                  </a:lnTo>
                  <a:lnTo>
                    <a:pt x="0" y="6858000"/>
                  </a:lnTo>
                  <a:lnTo>
                    <a:pt x="3008375" y="6858000"/>
                  </a:lnTo>
                  <a:lnTo>
                    <a:pt x="3008375" y="0"/>
                  </a:lnTo>
                  <a:close/>
                </a:path>
              </a:pathLst>
            </a:custGeom>
            <a:solidFill>
              <a:srgbClr val="90C225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05858" y="0"/>
              <a:ext cx="2586355" cy="6858000"/>
            </a:xfrm>
            <a:custGeom>
              <a:avLst/>
              <a:gdLst/>
              <a:ahLst/>
              <a:cxnLst/>
              <a:rect l="l" t="t" r="r" b="b"/>
              <a:pathLst>
                <a:path w="2586354" h="6858000">
                  <a:moveTo>
                    <a:pt x="2586142" y="0"/>
                  </a:moveTo>
                  <a:lnTo>
                    <a:pt x="0" y="0"/>
                  </a:lnTo>
                  <a:lnTo>
                    <a:pt x="1207430" y="6857999"/>
                  </a:lnTo>
                  <a:lnTo>
                    <a:pt x="2586142" y="6857999"/>
                  </a:lnTo>
                  <a:lnTo>
                    <a:pt x="2586142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33688" y="3048000"/>
              <a:ext cx="3258820" cy="3810000"/>
            </a:xfrm>
            <a:custGeom>
              <a:avLst/>
              <a:gdLst/>
              <a:ahLst/>
              <a:cxnLst/>
              <a:rect l="l" t="t" r="r" b="b"/>
              <a:pathLst>
                <a:path w="3258820" h="3810000">
                  <a:moveTo>
                    <a:pt x="3258311" y="0"/>
                  </a:moveTo>
                  <a:lnTo>
                    <a:pt x="0" y="3809999"/>
                  </a:lnTo>
                  <a:lnTo>
                    <a:pt x="3258311" y="3809999"/>
                  </a:lnTo>
                  <a:lnTo>
                    <a:pt x="3258311" y="0"/>
                  </a:lnTo>
                  <a:close/>
                </a:path>
              </a:pathLst>
            </a:custGeom>
            <a:solidFill>
              <a:srgbClr val="539F20">
                <a:alpha val="7215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39312" y="0"/>
              <a:ext cx="2849880" cy="6858000"/>
            </a:xfrm>
            <a:custGeom>
              <a:avLst/>
              <a:gdLst/>
              <a:ahLst/>
              <a:cxnLst/>
              <a:rect l="l" t="t" r="r" b="b"/>
              <a:pathLst>
                <a:path w="2849879" h="6858000">
                  <a:moveTo>
                    <a:pt x="2849639" y="0"/>
                  </a:moveTo>
                  <a:lnTo>
                    <a:pt x="0" y="0"/>
                  </a:lnTo>
                  <a:lnTo>
                    <a:pt x="2466226" y="6858000"/>
                  </a:lnTo>
                  <a:lnTo>
                    <a:pt x="2849639" y="6858000"/>
                  </a:lnTo>
                  <a:lnTo>
                    <a:pt x="2849639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99648" y="0"/>
              <a:ext cx="1289685" cy="6858000"/>
            </a:xfrm>
            <a:custGeom>
              <a:avLst/>
              <a:gdLst/>
              <a:ahLst/>
              <a:cxnLst/>
              <a:rect l="l" t="t" r="r" b="b"/>
              <a:pathLst>
                <a:path w="1289684" h="6858000">
                  <a:moveTo>
                    <a:pt x="1289303" y="0"/>
                  </a:moveTo>
                  <a:lnTo>
                    <a:pt x="1017691" y="0"/>
                  </a:lnTo>
                  <a:lnTo>
                    <a:pt x="0" y="6858000"/>
                  </a:lnTo>
                  <a:lnTo>
                    <a:pt x="1289303" y="6858000"/>
                  </a:lnTo>
                  <a:lnTo>
                    <a:pt x="1289303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>
                  <a:moveTo>
                    <a:pt x="1248203" y="0"/>
                  </a:moveTo>
                  <a:lnTo>
                    <a:pt x="0" y="0"/>
                  </a:lnTo>
                  <a:lnTo>
                    <a:pt x="1107741" y="6858000"/>
                  </a:lnTo>
                  <a:lnTo>
                    <a:pt x="1248203" y="6858000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90C225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72344" y="3590543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 descr="Laptop on a table"/>
          <p:cNvGrpSpPr/>
          <p:nvPr/>
        </p:nvGrpSpPr>
        <p:grpSpPr>
          <a:xfrm>
            <a:off x="0" y="0"/>
            <a:ext cx="2734310" cy="6858000"/>
            <a:chOff x="0" y="0"/>
            <a:chExt cx="2734310" cy="6858000"/>
          </a:xfrm>
        </p:grpSpPr>
        <p:sp>
          <p:nvSpPr>
            <p:cNvPr id="13" name="object 13"/>
            <p:cNvSpPr/>
            <p:nvPr/>
          </p:nvSpPr>
          <p:spPr>
            <a:xfrm>
              <a:off x="0" y="4014215"/>
              <a:ext cx="448309" cy="2844165"/>
            </a:xfrm>
            <a:custGeom>
              <a:avLst/>
              <a:gdLst/>
              <a:ahLst/>
              <a:cxnLst/>
              <a:rect l="l" t="t" r="r" b="b"/>
              <a:pathLst>
                <a:path w="448309" h="2844165">
                  <a:moveTo>
                    <a:pt x="0" y="0"/>
                  </a:moveTo>
                  <a:lnTo>
                    <a:pt x="0" y="2843783"/>
                  </a:lnTo>
                  <a:lnTo>
                    <a:pt x="448056" y="28437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5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 descr="Laptop on a tabl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733802" cy="685799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0" y="4014215"/>
              <a:ext cx="475615" cy="2844165"/>
            </a:xfrm>
            <a:custGeom>
              <a:avLst/>
              <a:gdLst/>
              <a:ahLst/>
              <a:cxnLst/>
              <a:rect l="l" t="t" r="r" b="b"/>
              <a:pathLst>
                <a:path w="475615" h="2844165">
                  <a:moveTo>
                    <a:pt x="0" y="0"/>
                  </a:moveTo>
                  <a:lnTo>
                    <a:pt x="0" y="2843783"/>
                  </a:lnTo>
                  <a:lnTo>
                    <a:pt x="475488" y="28437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564" rIns="0" bIns="0" rtlCol="0">
            <a:spAutoFit/>
          </a:bodyPr>
          <a:lstStyle/>
          <a:p>
            <a:pPr marL="467296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90C225"/>
                </a:solidFill>
              </a:rPr>
              <a:t>Business</a:t>
            </a:r>
            <a:r>
              <a:rPr sz="3600" spc="-95" dirty="0">
                <a:solidFill>
                  <a:srgbClr val="90C225"/>
                </a:solidFill>
              </a:rPr>
              <a:t> </a:t>
            </a:r>
            <a:r>
              <a:rPr sz="3600" spc="-10" dirty="0">
                <a:solidFill>
                  <a:srgbClr val="90C225"/>
                </a:solidFill>
              </a:rPr>
              <a:t>Insights</a:t>
            </a:r>
            <a:endParaRPr sz="3600"/>
          </a:p>
        </p:txBody>
      </p:sp>
      <p:sp>
        <p:nvSpPr>
          <p:cNvPr id="17" name="object 17"/>
          <p:cNvSpPr txBox="1"/>
          <p:nvPr/>
        </p:nvSpPr>
        <p:spPr>
          <a:xfrm>
            <a:off x="3045967" y="1483610"/>
            <a:ext cx="6231255" cy="4017645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Key</a:t>
            </a:r>
            <a:r>
              <a:rPr sz="1800" b="1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Business</a:t>
            </a:r>
            <a:r>
              <a:rPr sz="1800" b="1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rebuchet MS"/>
                <a:cs typeface="Trebuchet MS"/>
              </a:rPr>
              <a:t>Insights</a:t>
            </a:r>
            <a:endParaRPr sz="1800">
              <a:latin typeface="Trebuchet MS"/>
              <a:cs typeface="Trebuchet MS"/>
            </a:endParaRPr>
          </a:p>
          <a:p>
            <a:pPr marL="12700" marR="22225">
              <a:lnSpc>
                <a:spcPts val="1510"/>
              </a:lnSpc>
              <a:spcBef>
                <a:spcPts val="1025"/>
              </a:spcBef>
            </a:pPr>
            <a:r>
              <a:rPr sz="110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Electronics</a:t>
            </a:r>
            <a:r>
              <a:rPr sz="1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generated</a:t>
            </a:r>
            <a:r>
              <a:rPr sz="1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highest</a:t>
            </a:r>
            <a:r>
              <a:rPr sz="1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total sales,</a:t>
            </a:r>
            <a:r>
              <a:rPr sz="14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making</a:t>
            </a:r>
            <a:r>
              <a:rPr sz="1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1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best-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performing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product</a:t>
            </a:r>
            <a:r>
              <a:rPr sz="1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category.</a:t>
            </a:r>
            <a:endParaRPr sz="1400">
              <a:latin typeface="Trebuchet MS"/>
              <a:cs typeface="Trebuchet MS"/>
            </a:endParaRPr>
          </a:p>
          <a:p>
            <a:pPr marL="12700" marR="58419">
              <a:lnSpc>
                <a:spcPts val="1510"/>
              </a:lnSpc>
              <a:spcBef>
                <a:spcPts val="1015"/>
              </a:spcBef>
            </a:pPr>
            <a:r>
              <a:rPr sz="110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Education</a:t>
            </a:r>
            <a:r>
              <a:rPr sz="1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ranked</a:t>
            </a:r>
            <a:r>
              <a:rPr sz="1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second</a:t>
            </a:r>
            <a:r>
              <a:rPr sz="1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total</a:t>
            </a:r>
            <a:r>
              <a:rPr sz="1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sales,</a:t>
            </a:r>
            <a:r>
              <a:rPr sz="14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followed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r>
              <a:rPr sz="1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Trebuchet MS"/>
                <a:cs typeface="Trebuchet MS"/>
              </a:rPr>
              <a:t>Grocery,</a:t>
            </a:r>
            <a:r>
              <a:rPr sz="1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Furniture,</a:t>
            </a:r>
            <a:r>
              <a:rPr sz="1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Trebuchet MS"/>
                <a:cs typeface="Trebuchet MS"/>
              </a:rPr>
              <a:t>and 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Fashion.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595"/>
              </a:lnSpc>
              <a:spcBef>
                <a:spcPts val="819"/>
              </a:spcBef>
            </a:pPr>
            <a:r>
              <a:rPr sz="110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Laptop</a:t>
            </a:r>
            <a:r>
              <a:rPr sz="14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top-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selling product,</a:t>
            </a:r>
            <a:r>
              <a:rPr sz="1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followed</a:t>
            </a:r>
            <a:r>
              <a:rPr sz="1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closely</a:t>
            </a:r>
            <a:r>
              <a:rPr sz="1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r>
              <a:rPr sz="1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Mobile,</a:t>
            </a:r>
            <a:r>
              <a:rPr sz="1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indicating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595"/>
              </a:lnSpc>
            </a:pP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strong</a:t>
            </a:r>
            <a:r>
              <a:rPr sz="1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demand</a:t>
            </a:r>
            <a:r>
              <a:rPr sz="1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electronic</a:t>
            </a:r>
            <a:r>
              <a:rPr sz="1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products.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595"/>
              </a:lnSpc>
              <a:spcBef>
                <a:spcPts val="815"/>
              </a:spcBef>
            </a:pPr>
            <a:r>
              <a:rPr sz="110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Patna</a:t>
            </a:r>
            <a:r>
              <a:rPr sz="1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recorded</a:t>
            </a:r>
            <a:r>
              <a:rPr sz="1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highest</a:t>
            </a:r>
            <a:r>
              <a:rPr sz="1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total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sales</a:t>
            </a:r>
            <a:r>
              <a:rPr sz="1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among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all</a:t>
            </a:r>
            <a:r>
              <a:rPr sz="1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cities,</a:t>
            </a:r>
            <a:r>
              <a:rPr sz="1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followed</a:t>
            </a:r>
            <a:r>
              <a:rPr sz="14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r>
              <a:rPr sz="1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Kolkata,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595"/>
              </a:lnSpc>
            </a:pP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Bengaluru,</a:t>
            </a:r>
            <a:r>
              <a:rPr sz="1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Mumbai,</a:t>
            </a:r>
            <a:r>
              <a:rPr sz="1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Hyderabad.</a:t>
            </a:r>
            <a:endParaRPr sz="1400">
              <a:latin typeface="Trebuchet MS"/>
              <a:cs typeface="Trebuchet MS"/>
            </a:endParaRPr>
          </a:p>
          <a:p>
            <a:pPr marL="12700" marR="469265">
              <a:lnSpc>
                <a:spcPts val="1510"/>
              </a:lnSpc>
              <a:spcBef>
                <a:spcPts val="1035"/>
              </a:spcBef>
            </a:pPr>
            <a:r>
              <a:rPr sz="110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customer</a:t>
            </a:r>
            <a:r>
              <a:rPr sz="1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base</a:t>
            </a:r>
            <a:r>
              <a:rPr sz="1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well</a:t>
            </a:r>
            <a:r>
              <a:rPr sz="1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balanced,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with</a:t>
            </a:r>
            <a:r>
              <a:rPr sz="1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511</a:t>
            </a:r>
            <a:r>
              <a:rPr sz="1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male customers</a:t>
            </a:r>
            <a:r>
              <a:rPr sz="1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400" spc="-25" dirty="0">
                <a:solidFill>
                  <a:srgbClr val="404040"/>
                </a:solidFill>
                <a:latin typeface="Trebuchet MS"/>
                <a:cs typeface="Trebuchet MS"/>
              </a:rPr>
              <a:t> 489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female</a:t>
            </a:r>
            <a:r>
              <a:rPr sz="1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customers.</a:t>
            </a:r>
            <a:endParaRPr sz="1400">
              <a:latin typeface="Trebuchet MS"/>
              <a:cs typeface="Trebuchet MS"/>
            </a:endParaRPr>
          </a:p>
          <a:p>
            <a:pPr marL="12700" marR="389890">
              <a:lnSpc>
                <a:spcPts val="1510"/>
              </a:lnSpc>
              <a:spcBef>
                <a:spcPts val="1015"/>
              </a:spcBef>
            </a:pPr>
            <a:r>
              <a:rPr sz="110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Sales</a:t>
            </a:r>
            <a:r>
              <a:rPr sz="1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transactions</a:t>
            </a:r>
            <a:r>
              <a:rPr sz="1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cover</a:t>
            </a:r>
            <a:r>
              <a:rPr sz="1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multiple</a:t>
            </a:r>
            <a:r>
              <a:rPr sz="1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categories</a:t>
            </a:r>
            <a:r>
              <a:rPr sz="1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cities,</a:t>
            </a:r>
            <a:r>
              <a:rPr sz="1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helping</a:t>
            </a:r>
            <a:r>
              <a:rPr sz="1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identify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regional</a:t>
            </a:r>
            <a:r>
              <a:rPr sz="1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product-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level</a:t>
            </a:r>
            <a:r>
              <a:rPr sz="1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business</a:t>
            </a:r>
            <a:r>
              <a:rPr sz="1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opportunities.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595"/>
              </a:lnSpc>
              <a:spcBef>
                <a:spcPts val="795"/>
              </a:spcBef>
            </a:pPr>
            <a:r>
              <a:rPr sz="110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analysis</a:t>
            </a:r>
            <a:r>
              <a:rPr sz="1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highlights</a:t>
            </a:r>
            <a:r>
              <a:rPr sz="1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that</a:t>
            </a:r>
            <a:r>
              <a:rPr sz="1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electronic</a:t>
            </a:r>
            <a:r>
              <a:rPr sz="14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products</a:t>
            </a:r>
            <a:r>
              <a:rPr sz="1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contribute</a:t>
            </a:r>
            <a:r>
              <a:rPr sz="1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significantly</a:t>
            </a:r>
            <a:r>
              <a:rPr sz="1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595"/>
              </a:lnSpc>
            </a:pP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overall</a:t>
            </a:r>
            <a:r>
              <a:rPr sz="1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business</a:t>
            </a:r>
            <a:r>
              <a:rPr sz="1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revenue.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74570" y="631063"/>
            <a:ext cx="42576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90C225"/>
                </a:solidFill>
              </a:rPr>
              <a:t>Statistical</a:t>
            </a:r>
            <a:r>
              <a:rPr sz="3600" spc="-25" dirty="0">
                <a:solidFill>
                  <a:srgbClr val="90C225"/>
                </a:solidFill>
              </a:rPr>
              <a:t> Validation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786485" y="1378783"/>
            <a:ext cx="9443085" cy="4474845"/>
          </a:xfrm>
          <a:prstGeom prst="rect">
            <a:avLst/>
          </a:prstGeom>
        </p:spPr>
        <p:txBody>
          <a:bodyPr vert="horz" wrap="square" lIns="0" tIns="180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2400" b="1" spc="-10" dirty="0">
                <a:solidFill>
                  <a:srgbClr val="FFFFFF"/>
                </a:solidFill>
                <a:latin typeface="Trebuchet MS"/>
                <a:cs typeface="Trebuchet MS"/>
              </a:rPr>
              <a:t>Hypothesis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00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Null</a:t>
            </a:r>
            <a:r>
              <a:rPr sz="1300" b="1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Hypothesis</a:t>
            </a:r>
            <a:r>
              <a:rPr sz="13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(H₀):</a:t>
            </a:r>
            <a:r>
              <a:rPr sz="1300" b="1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There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13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no</a:t>
            </a:r>
            <a:r>
              <a:rPr sz="13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significant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relationship between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Quantity</a:t>
            </a:r>
            <a:r>
              <a:rPr sz="13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Sold</a:t>
            </a:r>
            <a:r>
              <a:rPr sz="13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3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Total</a:t>
            </a:r>
            <a:r>
              <a:rPr sz="13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Sales.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Alternative</a:t>
            </a:r>
            <a:r>
              <a:rPr sz="1300" b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Hypothesis</a:t>
            </a:r>
            <a:r>
              <a:rPr sz="1300" b="1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(H₁):</a:t>
            </a:r>
            <a:r>
              <a:rPr sz="1300" b="1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There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significant</a:t>
            </a:r>
            <a:r>
              <a:rPr sz="13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relationship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between</a:t>
            </a:r>
            <a:r>
              <a:rPr sz="130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Quantity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Sold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Total</a:t>
            </a:r>
            <a:r>
              <a:rPr sz="13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Sales.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2400" b="1" dirty="0">
                <a:solidFill>
                  <a:srgbClr val="FFFFFF"/>
                </a:solidFill>
                <a:latin typeface="Trebuchet MS"/>
                <a:cs typeface="Trebuchet MS"/>
              </a:rPr>
              <a:t>Statistical</a:t>
            </a:r>
            <a:r>
              <a:rPr sz="2400" b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Trebuchet MS"/>
                <a:cs typeface="Trebuchet MS"/>
              </a:rPr>
              <a:t>Test</a:t>
            </a:r>
            <a:r>
              <a:rPr sz="2400" b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Trebuchet MS"/>
                <a:cs typeface="Trebuchet MS"/>
              </a:rPr>
              <a:t>Used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00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Pearson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Correlation</a:t>
            </a:r>
            <a:r>
              <a:rPr sz="1300" spc="-20" dirty="0">
                <a:solidFill>
                  <a:srgbClr val="FFFFFF"/>
                </a:solidFill>
                <a:latin typeface="Trebuchet MS"/>
                <a:cs typeface="Trebuchet MS"/>
              </a:rPr>
              <a:t> Test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2600" b="1" spc="-10" dirty="0">
                <a:solidFill>
                  <a:srgbClr val="FFFFFF"/>
                </a:solidFill>
                <a:latin typeface="Trebuchet MS"/>
                <a:cs typeface="Trebuchet MS"/>
              </a:rPr>
              <a:t>Results</a:t>
            </a:r>
            <a:endParaRPr sz="2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Correlation</a:t>
            </a:r>
            <a:r>
              <a:rPr sz="13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Coefficient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(r):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rebuchet MS"/>
                <a:cs typeface="Trebuchet MS"/>
              </a:rPr>
              <a:t>0.647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00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p-value:</a:t>
            </a:r>
            <a:r>
              <a:rPr sz="1300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1.71 ×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10</a:t>
            </a:r>
            <a:r>
              <a:rPr sz="1300" dirty="0">
                <a:solidFill>
                  <a:srgbClr val="FFFFFF"/>
                </a:solidFill>
                <a:latin typeface="Cambria Math"/>
                <a:cs typeface="Cambria Math"/>
              </a:rPr>
              <a:t>⁻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¹¹⁹</a:t>
            </a:r>
            <a:r>
              <a:rPr sz="130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(approximately</a:t>
            </a:r>
            <a:r>
              <a:rPr sz="13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0.000)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600" b="1" spc="-10" dirty="0">
                <a:solidFill>
                  <a:srgbClr val="FFFFFF"/>
                </a:solidFill>
                <a:latin typeface="Trebuchet MS"/>
                <a:cs typeface="Trebuchet MS"/>
              </a:rPr>
              <a:t>Decision</a:t>
            </a:r>
            <a:endParaRPr sz="2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Since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p-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value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&lt;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0.05,</a:t>
            </a:r>
            <a:r>
              <a:rPr sz="1300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Reject</a:t>
            </a:r>
            <a:r>
              <a:rPr sz="13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Null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Hypothesis</a:t>
            </a:r>
            <a:r>
              <a:rPr sz="1300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(H₀).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2600" b="1" spc="-10" dirty="0">
                <a:solidFill>
                  <a:srgbClr val="FFFFFF"/>
                </a:solidFill>
                <a:latin typeface="Trebuchet MS"/>
                <a:cs typeface="Trebuchet MS"/>
              </a:rPr>
              <a:t>Conclusion</a:t>
            </a:r>
            <a:endParaRPr sz="2600">
              <a:latin typeface="Trebuchet MS"/>
              <a:cs typeface="Trebuchet MS"/>
            </a:endParaRPr>
          </a:p>
          <a:p>
            <a:pPr marL="12700" marR="5080">
              <a:lnSpc>
                <a:spcPct val="80000"/>
              </a:lnSpc>
              <a:spcBef>
                <a:spcPts val="1040"/>
              </a:spcBef>
            </a:pPr>
            <a:r>
              <a:rPr sz="100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There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statistically</a:t>
            </a:r>
            <a:r>
              <a:rPr sz="130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significant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positive</a:t>
            </a:r>
            <a:r>
              <a:rPr sz="130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relationship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between</a:t>
            </a:r>
            <a:r>
              <a:rPr sz="13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Quantity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Sold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3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Total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Sales.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This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means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that,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general,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as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quantity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products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sold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increases,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total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sales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value</a:t>
            </a:r>
            <a:r>
              <a:rPr sz="13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also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increases.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166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90C225"/>
                </a:solidFill>
              </a:rPr>
              <a:t>Business</a:t>
            </a:r>
            <a:r>
              <a:rPr sz="3600" spc="-110" dirty="0">
                <a:solidFill>
                  <a:srgbClr val="90C225"/>
                </a:solidFill>
              </a:rPr>
              <a:t> </a:t>
            </a:r>
            <a:r>
              <a:rPr sz="3600" spc="-10" dirty="0">
                <a:solidFill>
                  <a:srgbClr val="90C225"/>
                </a:solidFill>
              </a:rPr>
              <a:t>Recommendations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841375" cy="5666740"/>
          </a:xfrm>
          <a:custGeom>
            <a:avLst/>
            <a:gdLst/>
            <a:ahLst/>
            <a:cxnLst/>
            <a:rect l="l" t="t" r="r" b="b"/>
            <a:pathLst>
              <a:path w="841375" h="5666740">
                <a:moveTo>
                  <a:pt x="841247" y="0"/>
                </a:moveTo>
                <a:lnTo>
                  <a:pt x="0" y="0"/>
                </a:lnTo>
                <a:lnTo>
                  <a:pt x="0" y="5666232"/>
                </a:lnTo>
                <a:lnTo>
                  <a:pt x="841247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743943" y="4014215"/>
            <a:ext cx="448309" cy="2844165"/>
          </a:xfrm>
          <a:custGeom>
            <a:avLst/>
            <a:gdLst/>
            <a:ahLst/>
            <a:cxnLst/>
            <a:rect l="l" t="t" r="r" b="b"/>
            <a:pathLst>
              <a:path w="448309" h="2844165">
                <a:moveTo>
                  <a:pt x="448055" y="0"/>
                </a:moveTo>
                <a:lnTo>
                  <a:pt x="0" y="2843783"/>
                </a:lnTo>
                <a:lnTo>
                  <a:pt x="448055" y="2843783"/>
                </a:lnTo>
                <a:lnTo>
                  <a:pt x="448055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478280" y="2097023"/>
            <a:ext cx="802005" cy="802005"/>
            <a:chOff x="1478280" y="2097023"/>
            <a:chExt cx="802005" cy="802005"/>
          </a:xfrm>
        </p:grpSpPr>
        <p:sp>
          <p:nvSpPr>
            <p:cNvPr id="6" name="object 6"/>
            <p:cNvSpPr/>
            <p:nvPr/>
          </p:nvSpPr>
          <p:spPr>
            <a:xfrm>
              <a:off x="1478280" y="2097023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400812" y="0"/>
                  </a:moveTo>
                  <a:lnTo>
                    <a:pt x="354069" y="2696"/>
                  </a:lnTo>
                  <a:lnTo>
                    <a:pt x="308909" y="10585"/>
                  </a:lnTo>
                  <a:lnTo>
                    <a:pt x="265635" y="23366"/>
                  </a:lnTo>
                  <a:lnTo>
                    <a:pt x="224545" y="40739"/>
                  </a:lnTo>
                  <a:lnTo>
                    <a:pt x="185942" y="62401"/>
                  </a:lnTo>
                  <a:lnTo>
                    <a:pt x="150125" y="88054"/>
                  </a:lnTo>
                  <a:lnTo>
                    <a:pt x="117395" y="117395"/>
                  </a:lnTo>
                  <a:lnTo>
                    <a:pt x="88054" y="150125"/>
                  </a:lnTo>
                  <a:lnTo>
                    <a:pt x="62401" y="185942"/>
                  </a:lnTo>
                  <a:lnTo>
                    <a:pt x="40739" y="224545"/>
                  </a:lnTo>
                  <a:lnTo>
                    <a:pt x="23366" y="265635"/>
                  </a:lnTo>
                  <a:lnTo>
                    <a:pt x="10585" y="308909"/>
                  </a:lnTo>
                  <a:lnTo>
                    <a:pt x="2696" y="354069"/>
                  </a:lnTo>
                  <a:lnTo>
                    <a:pt x="0" y="400812"/>
                  </a:lnTo>
                  <a:lnTo>
                    <a:pt x="2696" y="447554"/>
                  </a:lnTo>
                  <a:lnTo>
                    <a:pt x="10585" y="492714"/>
                  </a:lnTo>
                  <a:lnTo>
                    <a:pt x="23366" y="535988"/>
                  </a:lnTo>
                  <a:lnTo>
                    <a:pt x="40739" y="577078"/>
                  </a:lnTo>
                  <a:lnTo>
                    <a:pt x="62401" y="615681"/>
                  </a:lnTo>
                  <a:lnTo>
                    <a:pt x="88054" y="651498"/>
                  </a:lnTo>
                  <a:lnTo>
                    <a:pt x="117395" y="684228"/>
                  </a:lnTo>
                  <a:lnTo>
                    <a:pt x="150125" y="713569"/>
                  </a:lnTo>
                  <a:lnTo>
                    <a:pt x="185942" y="739222"/>
                  </a:lnTo>
                  <a:lnTo>
                    <a:pt x="224545" y="760884"/>
                  </a:lnTo>
                  <a:lnTo>
                    <a:pt x="265635" y="778257"/>
                  </a:lnTo>
                  <a:lnTo>
                    <a:pt x="308909" y="791038"/>
                  </a:lnTo>
                  <a:lnTo>
                    <a:pt x="354069" y="798927"/>
                  </a:lnTo>
                  <a:lnTo>
                    <a:pt x="400812" y="801624"/>
                  </a:lnTo>
                  <a:lnTo>
                    <a:pt x="447554" y="798927"/>
                  </a:lnTo>
                  <a:lnTo>
                    <a:pt x="492714" y="791038"/>
                  </a:lnTo>
                  <a:lnTo>
                    <a:pt x="535988" y="778257"/>
                  </a:lnTo>
                  <a:lnTo>
                    <a:pt x="577078" y="760884"/>
                  </a:lnTo>
                  <a:lnTo>
                    <a:pt x="615681" y="739222"/>
                  </a:lnTo>
                  <a:lnTo>
                    <a:pt x="651498" y="713569"/>
                  </a:lnTo>
                  <a:lnTo>
                    <a:pt x="684228" y="684228"/>
                  </a:lnTo>
                  <a:lnTo>
                    <a:pt x="713569" y="651498"/>
                  </a:lnTo>
                  <a:lnTo>
                    <a:pt x="739222" y="615681"/>
                  </a:lnTo>
                  <a:lnTo>
                    <a:pt x="760884" y="577078"/>
                  </a:lnTo>
                  <a:lnTo>
                    <a:pt x="778257" y="535988"/>
                  </a:lnTo>
                  <a:lnTo>
                    <a:pt x="791038" y="492714"/>
                  </a:lnTo>
                  <a:lnTo>
                    <a:pt x="798927" y="447554"/>
                  </a:lnTo>
                  <a:lnTo>
                    <a:pt x="801624" y="400812"/>
                  </a:lnTo>
                  <a:lnTo>
                    <a:pt x="798927" y="354069"/>
                  </a:lnTo>
                  <a:lnTo>
                    <a:pt x="791038" y="308909"/>
                  </a:lnTo>
                  <a:lnTo>
                    <a:pt x="778257" y="265635"/>
                  </a:lnTo>
                  <a:lnTo>
                    <a:pt x="760884" y="224545"/>
                  </a:lnTo>
                  <a:lnTo>
                    <a:pt x="739222" y="185942"/>
                  </a:lnTo>
                  <a:lnTo>
                    <a:pt x="713569" y="150125"/>
                  </a:lnTo>
                  <a:lnTo>
                    <a:pt x="684228" y="117395"/>
                  </a:lnTo>
                  <a:lnTo>
                    <a:pt x="651498" y="88054"/>
                  </a:lnTo>
                  <a:lnTo>
                    <a:pt x="615681" y="62401"/>
                  </a:lnTo>
                  <a:lnTo>
                    <a:pt x="577078" y="40739"/>
                  </a:lnTo>
                  <a:lnTo>
                    <a:pt x="535988" y="23366"/>
                  </a:lnTo>
                  <a:lnTo>
                    <a:pt x="492714" y="10585"/>
                  </a:lnTo>
                  <a:lnTo>
                    <a:pt x="447554" y="2696"/>
                  </a:lnTo>
                  <a:lnTo>
                    <a:pt x="400812" y="0"/>
                  </a:lnTo>
                  <a:close/>
                </a:path>
              </a:pathLst>
            </a:custGeom>
            <a:solidFill>
              <a:srgbClr val="539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 descr="Lightbulb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7256" y="2289047"/>
              <a:ext cx="42672" cy="4876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33296" y="2296413"/>
              <a:ext cx="274828" cy="66039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1647444" y="2269235"/>
            <a:ext cx="463550" cy="460375"/>
          </a:xfrm>
          <a:custGeom>
            <a:avLst/>
            <a:gdLst/>
            <a:ahLst/>
            <a:cxnLst/>
            <a:rect l="l" t="t" r="r" b="b"/>
            <a:pathLst>
              <a:path w="463550" h="460375">
                <a:moveTo>
                  <a:pt x="0" y="0"/>
                </a:moveTo>
                <a:lnTo>
                  <a:pt x="463295" y="0"/>
                </a:lnTo>
              </a:path>
              <a:path w="463550" h="460375">
                <a:moveTo>
                  <a:pt x="0" y="0"/>
                </a:moveTo>
                <a:lnTo>
                  <a:pt x="0" y="460248"/>
                </a:lnTo>
              </a:path>
              <a:path w="463550" h="460375">
                <a:moveTo>
                  <a:pt x="0" y="460248"/>
                </a:moveTo>
                <a:lnTo>
                  <a:pt x="463295" y="460248"/>
                </a:lnTo>
              </a:path>
              <a:path w="463550" h="460375">
                <a:moveTo>
                  <a:pt x="463295" y="460248"/>
                </a:moveTo>
                <a:lnTo>
                  <a:pt x="46329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438526" y="2389454"/>
            <a:ext cx="117030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latin typeface="Trebuchet MS"/>
                <a:cs typeface="Trebuchet MS"/>
              </a:rPr>
              <a:t>Recommendations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666488" y="2097023"/>
            <a:ext cx="802005" cy="802005"/>
            <a:chOff x="4666488" y="2097023"/>
            <a:chExt cx="802005" cy="802005"/>
          </a:xfrm>
        </p:grpSpPr>
        <p:sp>
          <p:nvSpPr>
            <p:cNvPr id="12" name="object 12"/>
            <p:cNvSpPr/>
            <p:nvPr/>
          </p:nvSpPr>
          <p:spPr>
            <a:xfrm>
              <a:off x="4666488" y="2097023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4" h="802005">
                  <a:moveTo>
                    <a:pt x="400812" y="0"/>
                  </a:moveTo>
                  <a:lnTo>
                    <a:pt x="354069" y="2696"/>
                  </a:lnTo>
                  <a:lnTo>
                    <a:pt x="308909" y="10585"/>
                  </a:lnTo>
                  <a:lnTo>
                    <a:pt x="265635" y="23366"/>
                  </a:lnTo>
                  <a:lnTo>
                    <a:pt x="224545" y="40739"/>
                  </a:lnTo>
                  <a:lnTo>
                    <a:pt x="185942" y="62401"/>
                  </a:lnTo>
                  <a:lnTo>
                    <a:pt x="150125" y="88054"/>
                  </a:lnTo>
                  <a:lnTo>
                    <a:pt x="117395" y="117395"/>
                  </a:lnTo>
                  <a:lnTo>
                    <a:pt x="88054" y="150125"/>
                  </a:lnTo>
                  <a:lnTo>
                    <a:pt x="62401" y="185942"/>
                  </a:lnTo>
                  <a:lnTo>
                    <a:pt x="40739" y="224545"/>
                  </a:lnTo>
                  <a:lnTo>
                    <a:pt x="23366" y="265635"/>
                  </a:lnTo>
                  <a:lnTo>
                    <a:pt x="10585" y="308909"/>
                  </a:lnTo>
                  <a:lnTo>
                    <a:pt x="2696" y="354069"/>
                  </a:lnTo>
                  <a:lnTo>
                    <a:pt x="0" y="400812"/>
                  </a:lnTo>
                  <a:lnTo>
                    <a:pt x="2696" y="447554"/>
                  </a:lnTo>
                  <a:lnTo>
                    <a:pt x="10585" y="492714"/>
                  </a:lnTo>
                  <a:lnTo>
                    <a:pt x="23366" y="535988"/>
                  </a:lnTo>
                  <a:lnTo>
                    <a:pt x="40739" y="577078"/>
                  </a:lnTo>
                  <a:lnTo>
                    <a:pt x="62401" y="615681"/>
                  </a:lnTo>
                  <a:lnTo>
                    <a:pt x="88054" y="651498"/>
                  </a:lnTo>
                  <a:lnTo>
                    <a:pt x="117395" y="684228"/>
                  </a:lnTo>
                  <a:lnTo>
                    <a:pt x="150125" y="713569"/>
                  </a:lnTo>
                  <a:lnTo>
                    <a:pt x="185942" y="739222"/>
                  </a:lnTo>
                  <a:lnTo>
                    <a:pt x="224545" y="760884"/>
                  </a:lnTo>
                  <a:lnTo>
                    <a:pt x="265635" y="778257"/>
                  </a:lnTo>
                  <a:lnTo>
                    <a:pt x="308909" y="791038"/>
                  </a:lnTo>
                  <a:lnTo>
                    <a:pt x="354069" y="798927"/>
                  </a:lnTo>
                  <a:lnTo>
                    <a:pt x="400812" y="801624"/>
                  </a:lnTo>
                  <a:lnTo>
                    <a:pt x="447554" y="798927"/>
                  </a:lnTo>
                  <a:lnTo>
                    <a:pt x="492714" y="791038"/>
                  </a:lnTo>
                  <a:lnTo>
                    <a:pt x="535988" y="778257"/>
                  </a:lnTo>
                  <a:lnTo>
                    <a:pt x="577078" y="760884"/>
                  </a:lnTo>
                  <a:lnTo>
                    <a:pt x="615681" y="739222"/>
                  </a:lnTo>
                  <a:lnTo>
                    <a:pt x="651498" y="713569"/>
                  </a:lnTo>
                  <a:lnTo>
                    <a:pt x="684228" y="684228"/>
                  </a:lnTo>
                  <a:lnTo>
                    <a:pt x="713569" y="651498"/>
                  </a:lnTo>
                  <a:lnTo>
                    <a:pt x="739222" y="615681"/>
                  </a:lnTo>
                  <a:lnTo>
                    <a:pt x="760884" y="577078"/>
                  </a:lnTo>
                  <a:lnTo>
                    <a:pt x="778257" y="535988"/>
                  </a:lnTo>
                  <a:lnTo>
                    <a:pt x="791038" y="492714"/>
                  </a:lnTo>
                  <a:lnTo>
                    <a:pt x="798927" y="447554"/>
                  </a:lnTo>
                  <a:lnTo>
                    <a:pt x="801624" y="400812"/>
                  </a:lnTo>
                  <a:lnTo>
                    <a:pt x="798927" y="354069"/>
                  </a:lnTo>
                  <a:lnTo>
                    <a:pt x="791038" y="308909"/>
                  </a:lnTo>
                  <a:lnTo>
                    <a:pt x="778257" y="265635"/>
                  </a:lnTo>
                  <a:lnTo>
                    <a:pt x="760884" y="224545"/>
                  </a:lnTo>
                  <a:lnTo>
                    <a:pt x="739222" y="185942"/>
                  </a:lnTo>
                  <a:lnTo>
                    <a:pt x="713569" y="150125"/>
                  </a:lnTo>
                  <a:lnTo>
                    <a:pt x="684228" y="117395"/>
                  </a:lnTo>
                  <a:lnTo>
                    <a:pt x="651498" y="88054"/>
                  </a:lnTo>
                  <a:lnTo>
                    <a:pt x="615681" y="62401"/>
                  </a:lnTo>
                  <a:lnTo>
                    <a:pt x="577078" y="40739"/>
                  </a:lnTo>
                  <a:lnTo>
                    <a:pt x="535988" y="23366"/>
                  </a:lnTo>
                  <a:lnTo>
                    <a:pt x="492714" y="10585"/>
                  </a:lnTo>
                  <a:lnTo>
                    <a:pt x="447554" y="2696"/>
                  </a:lnTo>
                  <a:lnTo>
                    <a:pt x="400812" y="0"/>
                  </a:lnTo>
                  <a:close/>
                </a:path>
              </a:pathLst>
            </a:custGeom>
            <a:solidFill>
              <a:srgbClr val="E6B8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 descr="Processor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5464" y="2289047"/>
              <a:ext cx="42672" cy="4876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21504" y="2296413"/>
              <a:ext cx="274828" cy="66039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4835652" y="2269235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248" y="0"/>
                </a:lnTo>
              </a:path>
              <a:path w="460375" h="460375">
                <a:moveTo>
                  <a:pt x="0" y="0"/>
                </a:moveTo>
                <a:lnTo>
                  <a:pt x="0" y="460248"/>
                </a:lnTo>
              </a:path>
              <a:path w="460375" h="460375">
                <a:moveTo>
                  <a:pt x="0" y="460248"/>
                </a:moveTo>
                <a:lnTo>
                  <a:pt x="460248" y="460248"/>
                </a:lnTo>
              </a:path>
              <a:path w="460375" h="460375">
                <a:moveTo>
                  <a:pt x="460248" y="460248"/>
                </a:moveTo>
                <a:lnTo>
                  <a:pt x="46024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627370" y="2028901"/>
            <a:ext cx="1811655" cy="92900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ct val="87700"/>
              </a:lnSpc>
              <a:spcBef>
                <a:spcPts val="265"/>
              </a:spcBef>
            </a:pPr>
            <a:r>
              <a:rPr sz="1100" dirty="0">
                <a:latin typeface="Segoe UI Symbol"/>
                <a:cs typeface="Segoe UI Symbol"/>
              </a:rPr>
              <a:t>✔</a:t>
            </a:r>
            <a:r>
              <a:rPr sz="1100" spc="30" dirty="0">
                <a:latin typeface="Segoe UI Symbol"/>
                <a:cs typeface="Segoe UI Symbol"/>
              </a:rPr>
              <a:t> </a:t>
            </a:r>
            <a:r>
              <a:rPr sz="1100" dirty="0">
                <a:latin typeface="Trebuchet MS"/>
                <a:cs typeface="Trebuchet MS"/>
              </a:rPr>
              <a:t>Maintain</a:t>
            </a:r>
            <a:r>
              <a:rPr sz="1100" spc="-2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sufficient </a:t>
            </a:r>
            <a:r>
              <a:rPr sz="1100" dirty="0">
                <a:latin typeface="Trebuchet MS"/>
                <a:cs typeface="Trebuchet MS"/>
              </a:rPr>
              <a:t>inventory</a:t>
            </a:r>
            <a:r>
              <a:rPr sz="1100" spc="-25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for</a:t>
            </a:r>
            <a:r>
              <a:rPr sz="1100" spc="-2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Electronics </a:t>
            </a:r>
            <a:r>
              <a:rPr sz="1100" dirty="0">
                <a:latin typeface="Trebuchet MS"/>
                <a:cs typeface="Trebuchet MS"/>
              </a:rPr>
              <a:t>products,</a:t>
            </a:r>
            <a:r>
              <a:rPr sz="1100" spc="-55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especially</a:t>
            </a:r>
            <a:r>
              <a:rPr sz="1100" spc="-7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Laptops </a:t>
            </a:r>
            <a:r>
              <a:rPr sz="1100" dirty="0">
                <a:latin typeface="Trebuchet MS"/>
                <a:cs typeface="Trebuchet MS"/>
              </a:rPr>
              <a:t>and</a:t>
            </a:r>
            <a:r>
              <a:rPr sz="1100" spc="-15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Mobiles,</a:t>
            </a:r>
            <a:r>
              <a:rPr sz="1100" spc="-45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to</a:t>
            </a:r>
            <a:r>
              <a:rPr sz="1100" spc="10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meet </a:t>
            </a:r>
            <a:r>
              <a:rPr sz="1100" dirty="0">
                <a:latin typeface="Trebuchet MS"/>
                <a:cs typeface="Trebuchet MS"/>
              </a:rPr>
              <a:t>customer</a:t>
            </a:r>
            <a:r>
              <a:rPr sz="1100" spc="-35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demand</a:t>
            </a:r>
            <a:r>
              <a:rPr sz="1100" spc="-30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and</a:t>
            </a:r>
            <a:r>
              <a:rPr sz="1100" spc="-3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avoid </a:t>
            </a:r>
            <a:r>
              <a:rPr sz="1100" dirty="0">
                <a:latin typeface="Trebuchet MS"/>
                <a:cs typeface="Trebuchet MS"/>
              </a:rPr>
              <a:t>stock</a:t>
            </a:r>
            <a:r>
              <a:rPr sz="1100" spc="-3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shortages.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854695" y="2097023"/>
            <a:ext cx="802005" cy="802005"/>
            <a:chOff x="7854695" y="2097023"/>
            <a:chExt cx="802005" cy="802005"/>
          </a:xfrm>
        </p:grpSpPr>
        <p:sp>
          <p:nvSpPr>
            <p:cNvPr id="18" name="object 18"/>
            <p:cNvSpPr/>
            <p:nvPr/>
          </p:nvSpPr>
          <p:spPr>
            <a:xfrm>
              <a:off x="7854695" y="2097023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4" h="802005">
                  <a:moveTo>
                    <a:pt x="400811" y="0"/>
                  </a:moveTo>
                  <a:lnTo>
                    <a:pt x="354069" y="2696"/>
                  </a:lnTo>
                  <a:lnTo>
                    <a:pt x="308909" y="10585"/>
                  </a:lnTo>
                  <a:lnTo>
                    <a:pt x="265635" y="23366"/>
                  </a:lnTo>
                  <a:lnTo>
                    <a:pt x="224545" y="40739"/>
                  </a:lnTo>
                  <a:lnTo>
                    <a:pt x="185942" y="62401"/>
                  </a:lnTo>
                  <a:lnTo>
                    <a:pt x="150125" y="88054"/>
                  </a:lnTo>
                  <a:lnTo>
                    <a:pt x="117395" y="117395"/>
                  </a:lnTo>
                  <a:lnTo>
                    <a:pt x="88054" y="150125"/>
                  </a:lnTo>
                  <a:lnTo>
                    <a:pt x="62401" y="185942"/>
                  </a:lnTo>
                  <a:lnTo>
                    <a:pt x="40739" y="224545"/>
                  </a:lnTo>
                  <a:lnTo>
                    <a:pt x="23366" y="265635"/>
                  </a:lnTo>
                  <a:lnTo>
                    <a:pt x="10585" y="308909"/>
                  </a:lnTo>
                  <a:lnTo>
                    <a:pt x="2696" y="354069"/>
                  </a:lnTo>
                  <a:lnTo>
                    <a:pt x="0" y="400812"/>
                  </a:lnTo>
                  <a:lnTo>
                    <a:pt x="2696" y="447554"/>
                  </a:lnTo>
                  <a:lnTo>
                    <a:pt x="10585" y="492714"/>
                  </a:lnTo>
                  <a:lnTo>
                    <a:pt x="23366" y="535988"/>
                  </a:lnTo>
                  <a:lnTo>
                    <a:pt x="40739" y="577078"/>
                  </a:lnTo>
                  <a:lnTo>
                    <a:pt x="62401" y="615681"/>
                  </a:lnTo>
                  <a:lnTo>
                    <a:pt x="88054" y="651498"/>
                  </a:lnTo>
                  <a:lnTo>
                    <a:pt x="117395" y="684228"/>
                  </a:lnTo>
                  <a:lnTo>
                    <a:pt x="150125" y="713569"/>
                  </a:lnTo>
                  <a:lnTo>
                    <a:pt x="185942" y="739222"/>
                  </a:lnTo>
                  <a:lnTo>
                    <a:pt x="224545" y="760884"/>
                  </a:lnTo>
                  <a:lnTo>
                    <a:pt x="265635" y="778257"/>
                  </a:lnTo>
                  <a:lnTo>
                    <a:pt x="308909" y="791038"/>
                  </a:lnTo>
                  <a:lnTo>
                    <a:pt x="354069" y="798927"/>
                  </a:lnTo>
                  <a:lnTo>
                    <a:pt x="400811" y="801624"/>
                  </a:lnTo>
                  <a:lnTo>
                    <a:pt x="447554" y="798927"/>
                  </a:lnTo>
                  <a:lnTo>
                    <a:pt x="492714" y="791038"/>
                  </a:lnTo>
                  <a:lnTo>
                    <a:pt x="535988" y="778257"/>
                  </a:lnTo>
                  <a:lnTo>
                    <a:pt x="577078" y="760884"/>
                  </a:lnTo>
                  <a:lnTo>
                    <a:pt x="615681" y="739222"/>
                  </a:lnTo>
                  <a:lnTo>
                    <a:pt x="651498" y="713569"/>
                  </a:lnTo>
                  <a:lnTo>
                    <a:pt x="684228" y="684228"/>
                  </a:lnTo>
                  <a:lnTo>
                    <a:pt x="713569" y="651498"/>
                  </a:lnTo>
                  <a:lnTo>
                    <a:pt x="739222" y="615681"/>
                  </a:lnTo>
                  <a:lnTo>
                    <a:pt x="760884" y="577078"/>
                  </a:lnTo>
                  <a:lnTo>
                    <a:pt x="778257" y="535988"/>
                  </a:lnTo>
                  <a:lnTo>
                    <a:pt x="791038" y="492714"/>
                  </a:lnTo>
                  <a:lnTo>
                    <a:pt x="798927" y="447554"/>
                  </a:lnTo>
                  <a:lnTo>
                    <a:pt x="801624" y="400812"/>
                  </a:lnTo>
                  <a:lnTo>
                    <a:pt x="798927" y="354069"/>
                  </a:lnTo>
                  <a:lnTo>
                    <a:pt x="791038" y="308909"/>
                  </a:lnTo>
                  <a:lnTo>
                    <a:pt x="778257" y="265635"/>
                  </a:lnTo>
                  <a:lnTo>
                    <a:pt x="760884" y="224545"/>
                  </a:lnTo>
                  <a:lnTo>
                    <a:pt x="739222" y="185942"/>
                  </a:lnTo>
                  <a:lnTo>
                    <a:pt x="713569" y="150125"/>
                  </a:lnTo>
                  <a:lnTo>
                    <a:pt x="684228" y="117395"/>
                  </a:lnTo>
                  <a:lnTo>
                    <a:pt x="651498" y="88054"/>
                  </a:lnTo>
                  <a:lnTo>
                    <a:pt x="615681" y="62401"/>
                  </a:lnTo>
                  <a:lnTo>
                    <a:pt x="577078" y="40739"/>
                  </a:lnTo>
                  <a:lnTo>
                    <a:pt x="535988" y="23366"/>
                  </a:lnTo>
                  <a:lnTo>
                    <a:pt x="492714" y="10585"/>
                  </a:lnTo>
                  <a:lnTo>
                    <a:pt x="447554" y="2696"/>
                  </a:lnTo>
                  <a:lnTo>
                    <a:pt x="400811" y="0"/>
                  </a:lnTo>
                  <a:close/>
                </a:path>
              </a:pathLst>
            </a:custGeom>
            <a:solidFill>
              <a:srgbClr val="E766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 descr="Maximiz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3671" y="2289047"/>
              <a:ext cx="42672" cy="4876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09711" y="2296413"/>
              <a:ext cx="274828" cy="66039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8023859" y="2269235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248" y="0"/>
                </a:lnTo>
              </a:path>
              <a:path w="460375" h="460375">
                <a:moveTo>
                  <a:pt x="0" y="0"/>
                </a:moveTo>
                <a:lnTo>
                  <a:pt x="0" y="460248"/>
                </a:lnTo>
              </a:path>
              <a:path w="460375" h="460375">
                <a:moveTo>
                  <a:pt x="0" y="460248"/>
                </a:moveTo>
                <a:lnTo>
                  <a:pt x="460248" y="460248"/>
                </a:lnTo>
              </a:path>
              <a:path w="460375" h="460375">
                <a:moveTo>
                  <a:pt x="460248" y="460248"/>
                </a:moveTo>
                <a:lnTo>
                  <a:pt x="46024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816085" y="2028901"/>
            <a:ext cx="1890395" cy="92900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ct val="87700"/>
              </a:lnSpc>
              <a:spcBef>
                <a:spcPts val="265"/>
              </a:spcBef>
            </a:pPr>
            <a:r>
              <a:rPr sz="1100" dirty="0">
                <a:latin typeface="Segoe UI Symbol"/>
                <a:cs typeface="Segoe UI Symbol"/>
              </a:rPr>
              <a:t>✔</a:t>
            </a:r>
            <a:r>
              <a:rPr sz="1100" spc="15" dirty="0">
                <a:latin typeface="Segoe UI Symbol"/>
                <a:cs typeface="Segoe UI Symbol"/>
              </a:rPr>
              <a:t> </a:t>
            </a:r>
            <a:r>
              <a:rPr sz="1100" dirty="0">
                <a:latin typeface="Trebuchet MS"/>
                <a:cs typeface="Trebuchet MS"/>
              </a:rPr>
              <a:t>Increase</a:t>
            </a:r>
            <a:r>
              <a:rPr sz="1100" spc="-65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marketing</a:t>
            </a:r>
            <a:r>
              <a:rPr sz="1100" spc="-2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efforts </a:t>
            </a:r>
            <a:r>
              <a:rPr sz="1100" dirty="0">
                <a:latin typeface="Trebuchet MS"/>
                <a:cs typeface="Trebuchet MS"/>
              </a:rPr>
              <a:t>in</a:t>
            </a:r>
            <a:r>
              <a:rPr sz="1100" spc="-1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high-</a:t>
            </a:r>
            <a:r>
              <a:rPr sz="1100" dirty="0">
                <a:latin typeface="Trebuchet MS"/>
                <a:cs typeface="Trebuchet MS"/>
              </a:rPr>
              <a:t>performing</a:t>
            </a:r>
            <a:r>
              <a:rPr sz="1100" spc="-30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cities</a:t>
            </a:r>
            <a:r>
              <a:rPr sz="1100" spc="-20" dirty="0">
                <a:latin typeface="Trebuchet MS"/>
                <a:cs typeface="Trebuchet MS"/>
              </a:rPr>
              <a:t> such </a:t>
            </a:r>
            <a:r>
              <a:rPr sz="1100" dirty="0">
                <a:latin typeface="Trebuchet MS"/>
                <a:cs typeface="Trebuchet MS"/>
              </a:rPr>
              <a:t>as</a:t>
            </a:r>
            <a:r>
              <a:rPr sz="1100" spc="-30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Patna,</a:t>
            </a:r>
            <a:r>
              <a:rPr sz="1100" spc="-10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while</a:t>
            </a:r>
            <a:r>
              <a:rPr sz="1100" spc="-1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creating </a:t>
            </a:r>
            <a:r>
              <a:rPr sz="1100" dirty="0">
                <a:latin typeface="Trebuchet MS"/>
                <a:cs typeface="Trebuchet MS"/>
              </a:rPr>
              <a:t>targeted</a:t>
            </a:r>
            <a:r>
              <a:rPr sz="1100" spc="-30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campaigns</a:t>
            </a:r>
            <a:r>
              <a:rPr sz="1100" spc="-50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rebuchet MS"/>
                <a:cs typeface="Trebuchet MS"/>
              </a:rPr>
              <a:t>to </a:t>
            </a:r>
            <a:r>
              <a:rPr sz="1100" dirty="0">
                <a:latin typeface="Trebuchet MS"/>
                <a:cs typeface="Trebuchet MS"/>
              </a:rPr>
              <a:t>improve</a:t>
            </a:r>
            <a:r>
              <a:rPr sz="1100" spc="-55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sales</a:t>
            </a:r>
            <a:r>
              <a:rPr sz="1100" spc="-20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in</a:t>
            </a:r>
            <a:r>
              <a:rPr sz="1100" spc="-10" dirty="0">
                <a:latin typeface="Trebuchet MS"/>
                <a:cs typeface="Trebuchet MS"/>
              </a:rPr>
              <a:t> lower-</a:t>
            </a:r>
            <a:r>
              <a:rPr sz="1100" dirty="0">
                <a:latin typeface="Trebuchet MS"/>
                <a:cs typeface="Trebuchet MS"/>
              </a:rPr>
              <a:t>performing</a:t>
            </a:r>
            <a:r>
              <a:rPr sz="1100" spc="-4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cities.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478280" y="3593591"/>
            <a:ext cx="802005" cy="802005"/>
            <a:chOff x="1478280" y="3593591"/>
            <a:chExt cx="802005" cy="802005"/>
          </a:xfrm>
        </p:grpSpPr>
        <p:sp>
          <p:nvSpPr>
            <p:cNvPr id="24" name="object 24"/>
            <p:cNvSpPr/>
            <p:nvPr/>
          </p:nvSpPr>
          <p:spPr>
            <a:xfrm>
              <a:off x="1478280" y="3593591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4">
                  <a:moveTo>
                    <a:pt x="400812" y="0"/>
                  </a:moveTo>
                  <a:lnTo>
                    <a:pt x="354069" y="2696"/>
                  </a:lnTo>
                  <a:lnTo>
                    <a:pt x="308909" y="10585"/>
                  </a:lnTo>
                  <a:lnTo>
                    <a:pt x="265635" y="23366"/>
                  </a:lnTo>
                  <a:lnTo>
                    <a:pt x="224545" y="40739"/>
                  </a:lnTo>
                  <a:lnTo>
                    <a:pt x="185942" y="62401"/>
                  </a:lnTo>
                  <a:lnTo>
                    <a:pt x="150125" y="88054"/>
                  </a:lnTo>
                  <a:lnTo>
                    <a:pt x="117395" y="117395"/>
                  </a:lnTo>
                  <a:lnTo>
                    <a:pt x="88054" y="150125"/>
                  </a:lnTo>
                  <a:lnTo>
                    <a:pt x="62401" y="185942"/>
                  </a:lnTo>
                  <a:lnTo>
                    <a:pt x="40739" y="224545"/>
                  </a:lnTo>
                  <a:lnTo>
                    <a:pt x="23366" y="265635"/>
                  </a:lnTo>
                  <a:lnTo>
                    <a:pt x="10585" y="308909"/>
                  </a:lnTo>
                  <a:lnTo>
                    <a:pt x="2696" y="354069"/>
                  </a:lnTo>
                  <a:lnTo>
                    <a:pt x="0" y="400812"/>
                  </a:lnTo>
                  <a:lnTo>
                    <a:pt x="2696" y="447554"/>
                  </a:lnTo>
                  <a:lnTo>
                    <a:pt x="10585" y="492714"/>
                  </a:lnTo>
                  <a:lnTo>
                    <a:pt x="23366" y="535988"/>
                  </a:lnTo>
                  <a:lnTo>
                    <a:pt x="40739" y="577078"/>
                  </a:lnTo>
                  <a:lnTo>
                    <a:pt x="62401" y="615681"/>
                  </a:lnTo>
                  <a:lnTo>
                    <a:pt x="88054" y="651498"/>
                  </a:lnTo>
                  <a:lnTo>
                    <a:pt x="117395" y="684228"/>
                  </a:lnTo>
                  <a:lnTo>
                    <a:pt x="150125" y="713569"/>
                  </a:lnTo>
                  <a:lnTo>
                    <a:pt x="185942" y="739222"/>
                  </a:lnTo>
                  <a:lnTo>
                    <a:pt x="224545" y="760884"/>
                  </a:lnTo>
                  <a:lnTo>
                    <a:pt x="265635" y="778257"/>
                  </a:lnTo>
                  <a:lnTo>
                    <a:pt x="308909" y="791038"/>
                  </a:lnTo>
                  <a:lnTo>
                    <a:pt x="354069" y="798927"/>
                  </a:lnTo>
                  <a:lnTo>
                    <a:pt x="400812" y="801624"/>
                  </a:lnTo>
                  <a:lnTo>
                    <a:pt x="447554" y="798927"/>
                  </a:lnTo>
                  <a:lnTo>
                    <a:pt x="492714" y="791038"/>
                  </a:lnTo>
                  <a:lnTo>
                    <a:pt x="535988" y="778257"/>
                  </a:lnTo>
                  <a:lnTo>
                    <a:pt x="577078" y="760884"/>
                  </a:lnTo>
                  <a:lnTo>
                    <a:pt x="615681" y="739222"/>
                  </a:lnTo>
                  <a:lnTo>
                    <a:pt x="651498" y="713569"/>
                  </a:lnTo>
                  <a:lnTo>
                    <a:pt x="684228" y="684228"/>
                  </a:lnTo>
                  <a:lnTo>
                    <a:pt x="713569" y="651498"/>
                  </a:lnTo>
                  <a:lnTo>
                    <a:pt x="739222" y="615681"/>
                  </a:lnTo>
                  <a:lnTo>
                    <a:pt x="760884" y="577078"/>
                  </a:lnTo>
                  <a:lnTo>
                    <a:pt x="778257" y="535988"/>
                  </a:lnTo>
                  <a:lnTo>
                    <a:pt x="791038" y="492714"/>
                  </a:lnTo>
                  <a:lnTo>
                    <a:pt x="798927" y="447554"/>
                  </a:lnTo>
                  <a:lnTo>
                    <a:pt x="801624" y="400812"/>
                  </a:lnTo>
                  <a:lnTo>
                    <a:pt x="798927" y="354069"/>
                  </a:lnTo>
                  <a:lnTo>
                    <a:pt x="791038" y="308909"/>
                  </a:lnTo>
                  <a:lnTo>
                    <a:pt x="778257" y="265635"/>
                  </a:lnTo>
                  <a:lnTo>
                    <a:pt x="760884" y="224545"/>
                  </a:lnTo>
                  <a:lnTo>
                    <a:pt x="739222" y="185942"/>
                  </a:lnTo>
                  <a:lnTo>
                    <a:pt x="713569" y="150125"/>
                  </a:lnTo>
                  <a:lnTo>
                    <a:pt x="684228" y="117395"/>
                  </a:lnTo>
                  <a:lnTo>
                    <a:pt x="651498" y="88054"/>
                  </a:lnTo>
                  <a:lnTo>
                    <a:pt x="615681" y="62401"/>
                  </a:lnTo>
                  <a:lnTo>
                    <a:pt x="577078" y="40739"/>
                  </a:lnTo>
                  <a:lnTo>
                    <a:pt x="535988" y="23366"/>
                  </a:lnTo>
                  <a:lnTo>
                    <a:pt x="492714" y="10585"/>
                  </a:lnTo>
                  <a:lnTo>
                    <a:pt x="447554" y="2696"/>
                  </a:lnTo>
                  <a:lnTo>
                    <a:pt x="400812" y="0"/>
                  </a:lnTo>
                  <a:close/>
                </a:path>
              </a:pathLst>
            </a:custGeom>
            <a:solidFill>
              <a:srgbClr val="C42E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 descr="Baseball Hat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7256" y="3785615"/>
              <a:ext cx="42672" cy="4876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33296" y="3792981"/>
              <a:ext cx="274828" cy="66040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1647444" y="3765803"/>
            <a:ext cx="463550" cy="460375"/>
          </a:xfrm>
          <a:custGeom>
            <a:avLst/>
            <a:gdLst/>
            <a:ahLst/>
            <a:cxnLst/>
            <a:rect l="l" t="t" r="r" b="b"/>
            <a:pathLst>
              <a:path w="463550" h="460375">
                <a:moveTo>
                  <a:pt x="0" y="0"/>
                </a:moveTo>
                <a:lnTo>
                  <a:pt x="463295" y="0"/>
                </a:lnTo>
              </a:path>
              <a:path w="463550" h="460375">
                <a:moveTo>
                  <a:pt x="0" y="0"/>
                </a:moveTo>
                <a:lnTo>
                  <a:pt x="0" y="460248"/>
                </a:lnTo>
              </a:path>
              <a:path w="463550" h="460375">
                <a:moveTo>
                  <a:pt x="0" y="460248"/>
                </a:moveTo>
                <a:lnTo>
                  <a:pt x="463295" y="460248"/>
                </a:lnTo>
              </a:path>
              <a:path w="463550" h="460375">
                <a:moveTo>
                  <a:pt x="463295" y="460248"/>
                </a:moveTo>
                <a:lnTo>
                  <a:pt x="46329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438526" y="3599434"/>
            <a:ext cx="1888489" cy="78232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ct val="87800"/>
              </a:lnSpc>
              <a:spcBef>
                <a:spcPts val="265"/>
              </a:spcBef>
            </a:pPr>
            <a:r>
              <a:rPr sz="1100" dirty="0">
                <a:latin typeface="Segoe UI Symbol"/>
                <a:cs typeface="Segoe UI Symbol"/>
              </a:rPr>
              <a:t>✔</a:t>
            </a:r>
            <a:r>
              <a:rPr sz="1100" spc="35" dirty="0">
                <a:latin typeface="Segoe UI Symbol"/>
                <a:cs typeface="Segoe UI Symbol"/>
              </a:rPr>
              <a:t> </a:t>
            </a:r>
            <a:r>
              <a:rPr sz="1100" dirty="0">
                <a:latin typeface="Trebuchet MS"/>
                <a:cs typeface="Trebuchet MS"/>
              </a:rPr>
              <a:t>Develop</a:t>
            </a:r>
            <a:r>
              <a:rPr sz="1100" spc="-40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promotional</a:t>
            </a:r>
            <a:r>
              <a:rPr sz="1100" spc="-6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offers </a:t>
            </a:r>
            <a:r>
              <a:rPr sz="1100" dirty="0">
                <a:latin typeface="Trebuchet MS"/>
                <a:cs typeface="Trebuchet MS"/>
              </a:rPr>
              <a:t>for</a:t>
            </a:r>
            <a:r>
              <a:rPr sz="1100" spc="-15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lower-performing</a:t>
            </a:r>
            <a:r>
              <a:rPr sz="1100" spc="-4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product </a:t>
            </a:r>
            <a:r>
              <a:rPr sz="1100" dirty="0">
                <a:latin typeface="Trebuchet MS"/>
                <a:cs typeface="Trebuchet MS"/>
              </a:rPr>
              <a:t>categories</a:t>
            </a:r>
            <a:r>
              <a:rPr sz="1100" spc="-40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to</a:t>
            </a:r>
            <a:r>
              <a:rPr sz="1100" spc="-3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increase </a:t>
            </a:r>
            <a:r>
              <a:rPr sz="1100" dirty="0">
                <a:latin typeface="Trebuchet MS"/>
                <a:cs typeface="Trebuchet MS"/>
              </a:rPr>
              <a:t>customer</a:t>
            </a:r>
            <a:r>
              <a:rPr sz="1100" spc="-35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interest</a:t>
            </a:r>
            <a:r>
              <a:rPr sz="1100" spc="-40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and</a:t>
            </a:r>
            <a:r>
              <a:rPr sz="1100" spc="-10" dirty="0">
                <a:latin typeface="Trebuchet MS"/>
                <a:cs typeface="Trebuchet MS"/>
              </a:rPr>
              <a:t> boost sales.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666488" y="3593591"/>
            <a:ext cx="802005" cy="802005"/>
            <a:chOff x="4666488" y="3593591"/>
            <a:chExt cx="802005" cy="802005"/>
          </a:xfrm>
        </p:grpSpPr>
        <p:sp>
          <p:nvSpPr>
            <p:cNvPr id="30" name="object 30"/>
            <p:cNvSpPr/>
            <p:nvPr/>
          </p:nvSpPr>
          <p:spPr>
            <a:xfrm>
              <a:off x="4666488" y="3593591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4" h="802004">
                  <a:moveTo>
                    <a:pt x="400812" y="0"/>
                  </a:moveTo>
                  <a:lnTo>
                    <a:pt x="354069" y="2696"/>
                  </a:lnTo>
                  <a:lnTo>
                    <a:pt x="308909" y="10585"/>
                  </a:lnTo>
                  <a:lnTo>
                    <a:pt x="265635" y="23366"/>
                  </a:lnTo>
                  <a:lnTo>
                    <a:pt x="224545" y="40739"/>
                  </a:lnTo>
                  <a:lnTo>
                    <a:pt x="185942" y="62401"/>
                  </a:lnTo>
                  <a:lnTo>
                    <a:pt x="150125" y="88054"/>
                  </a:lnTo>
                  <a:lnTo>
                    <a:pt x="117395" y="117395"/>
                  </a:lnTo>
                  <a:lnTo>
                    <a:pt x="88054" y="150125"/>
                  </a:lnTo>
                  <a:lnTo>
                    <a:pt x="62401" y="185942"/>
                  </a:lnTo>
                  <a:lnTo>
                    <a:pt x="40739" y="224545"/>
                  </a:lnTo>
                  <a:lnTo>
                    <a:pt x="23366" y="265635"/>
                  </a:lnTo>
                  <a:lnTo>
                    <a:pt x="10585" y="308909"/>
                  </a:lnTo>
                  <a:lnTo>
                    <a:pt x="2696" y="354069"/>
                  </a:lnTo>
                  <a:lnTo>
                    <a:pt x="0" y="400812"/>
                  </a:lnTo>
                  <a:lnTo>
                    <a:pt x="2696" y="447554"/>
                  </a:lnTo>
                  <a:lnTo>
                    <a:pt x="10585" y="492714"/>
                  </a:lnTo>
                  <a:lnTo>
                    <a:pt x="23366" y="535988"/>
                  </a:lnTo>
                  <a:lnTo>
                    <a:pt x="40739" y="577078"/>
                  </a:lnTo>
                  <a:lnTo>
                    <a:pt x="62401" y="615681"/>
                  </a:lnTo>
                  <a:lnTo>
                    <a:pt x="88054" y="651498"/>
                  </a:lnTo>
                  <a:lnTo>
                    <a:pt x="117395" y="684228"/>
                  </a:lnTo>
                  <a:lnTo>
                    <a:pt x="150125" y="713569"/>
                  </a:lnTo>
                  <a:lnTo>
                    <a:pt x="185942" y="739222"/>
                  </a:lnTo>
                  <a:lnTo>
                    <a:pt x="224545" y="760884"/>
                  </a:lnTo>
                  <a:lnTo>
                    <a:pt x="265635" y="778257"/>
                  </a:lnTo>
                  <a:lnTo>
                    <a:pt x="308909" y="791038"/>
                  </a:lnTo>
                  <a:lnTo>
                    <a:pt x="354069" y="798927"/>
                  </a:lnTo>
                  <a:lnTo>
                    <a:pt x="400812" y="801624"/>
                  </a:lnTo>
                  <a:lnTo>
                    <a:pt x="447554" y="798927"/>
                  </a:lnTo>
                  <a:lnTo>
                    <a:pt x="492714" y="791038"/>
                  </a:lnTo>
                  <a:lnTo>
                    <a:pt x="535988" y="778257"/>
                  </a:lnTo>
                  <a:lnTo>
                    <a:pt x="577078" y="760884"/>
                  </a:lnTo>
                  <a:lnTo>
                    <a:pt x="615681" y="739222"/>
                  </a:lnTo>
                  <a:lnTo>
                    <a:pt x="651498" y="713569"/>
                  </a:lnTo>
                  <a:lnTo>
                    <a:pt x="684228" y="684228"/>
                  </a:lnTo>
                  <a:lnTo>
                    <a:pt x="713569" y="651498"/>
                  </a:lnTo>
                  <a:lnTo>
                    <a:pt x="739222" y="615681"/>
                  </a:lnTo>
                  <a:lnTo>
                    <a:pt x="760884" y="577078"/>
                  </a:lnTo>
                  <a:lnTo>
                    <a:pt x="778257" y="535988"/>
                  </a:lnTo>
                  <a:lnTo>
                    <a:pt x="791038" y="492714"/>
                  </a:lnTo>
                  <a:lnTo>
                    <a:pt x="798927" y="447554"/>
                  </a:lnTo>
                  <a:lnTo>
                    <a:pt x="801624" y="400812"/>
                  </a:lnTo>
                  <a:lnTo>
                    <a:pt x="798927" y="354069"/>
                  </a:lnTo>
                  <a:lnTo>
                    <a:pt x="791038" y="308909"/>
                  </a:lnTo>
                  <a:lnTo>
                    <a:pt x="778257" y="265635"/>
                  </a:lnTo>
                  <a:lnTo>
                    <a:pt x="760884" y="224545"/>
                  </a:lnTo>
                  <a:lnTo>
                    <a:pt x="739222" y="185942"/>
                  </a:lnTo>
                  <a:lnTo>
                    <a:pt x="713569" y="150125"/>
                  </a:lnTo>
                  <a:lnTo>
                    <a:pt x="684228" y="117395"/>
                  </a:lnTo>
                  <a:lnTo>
                    <a:pt x="651498" y="88054"/>
                  </a:lnTo>
                  <a:lnTo>
                    <a:pt x="615681" y="62401"/>
                  </a:lnTo>
                  <a:lnTo>
                    <a:pt x="577078" y="40739"/>
                  </a:lnTo>
                  <a:lnTo>
                    <a:pt x="535988" y="23366"/>
                  </a:lnTo>
                  <a:lnTo>
                    <a:pt x="492714" y="10585"/>
                  </a:lnTo>
                  <a:lnTo>
                    <a:pt x="447554" y="2696"/>
                  </a:lnTo>
                  <a:lnTo>
                    <a:pt x="400812" y="0"/>
                  </a:lnTo>
                  <a:close/>
                </a:path>
              </a:pathLst>
            </a:custGeom>
            <a:solidFill>
              <a:srgbClr val="9185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 descr="Target Audienc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5464" y="3785615"/>
              <a:ext cx="42672" cy="4876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21504" y="3792981"/>
              <a:ext cx="274828" cy="66040"/>
            </a:xfrm>
            <a:prstGeom prst="rect">
              <a:avLst/>
            </a:prstGeom>
          </p:spPr>
        </p:pic>
      </p:grpSp>
      <p:sp>
        <p:nvSpPr>
          <p:cNvPr id="33" name="object 33"/>
          <p:cNvSpPr/>
          <p:nvPr/>
        </p:nvSpPr>
        <p:spPr>
          <a:xfrm>
            <a:off x="4835652" y="3765803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248" y="0"/>
                </a:lnTo>
              </a:path>
              <a:path w="460375" h="460375">
                <a:moveTo>
                  <a:pt x="0" y="0"/>
                </a:moveTo>
                <a:lnTo>
                  <a:pt x="0" y="460248"/>
                </a:lnTo>
              </a:path>
              <a:path w="460375" h="460375">
                <a:moveTo>
                  <a:pt x="0" y="460248"/>
                </a:moveTo>
                <a:lnTo>
                  <a:pt x="460248" y="460248"/>
                </a:lnTo>
              </a:path>
              <a:path w="460375" h="460375">
                <a:moveTo>
                  <a:pt x="460248" y="460248"/>
                </a:moveTo>
                <a:lnTo>
                  <a:pt x="46024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627370" y="3599434"/>
            <a:ext cx="1879600" cy="78232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ct val="87800"/>
              </a:lnSpc>
              <a:spcBef>
                <a:spcPts val="265"/>
              </a:spcBef>
            </a:pPr>
            <a:r>
              <a:rPr sz="1100" dirty="0">
                <a:latin typeface="Segoe UI Symbol"/>
                <a:cs typeface="Segoe UI Symbol"/>
              </a:rPr>
              <a:t>✔</a:t>
            </a:r>
            <a:r>
              <a:rPr sz="1100" spc="30" dirty="0">
                <a:latin typeface="Segoe UI Symbol"/>
                <a:cs typeface="Segoe UI Symbol"/>
              </a:rPr>
              <a:t> </a:t>
            </a:r>
            <a:r>
              <a:rPr sz="1100" dirty="0">
                <a:latin typeface="Trebuchet MS"/>
                <a:cs typeface="Trebuchet MS"/>
              </a:rPr>
              <a:t>Analyze</a:t>
            </a:r>
            <a:r>
              <a:rPr sz="1100" spc="-5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customer </a:t>
            </a:r>
            <a:r>
              <a:rPr sz="1100" dirty="0">
                <a:latin typeface="Trebuchet MS"/>
                <a:cs typeface="Trebuchet MS"/>
              </a:rPr>
              <a:t>purchasing</a:t>
            </a:r>
            <a:r>
              <a:rPr sz="1100" spc="-45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behavior</a:t>
            </a:r>
            <a:r>
              <a:rPr sz="1100" spc="-6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regularly </a:t>
            </a:r>
            <a:r>
              <a:rPr sz="1100" dirty="0">
                <a:latin typeface="Trebuchet MS"/>
                <a:cs typeface="Trebuchet MS"/>
              </a:rPr>
              <a:t>to</a:t>
            </a:r>
            <a:r>
              <a:rPr sz="1100" spc="-15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identify</a:t>
            </a:r>
            <a:r>
              <a:rPr sz="1100" spc="-35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buying</a:t>
            </a:r>
            <a:r>
              <a:rPr sz="1100" spc="-45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trends</a:t>
            </a:r>
            <a:r>
              <a:rPr sz="1100" spc="-30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rebuchet MS"/>
                <a:cs typeface="Trebuchet MS"/>
              </a:rPr>
              <a:t>and </a:t>
            </a:r>
            <a:r>
              <a:rPr sz="1100" dirty="0">
                <a:latin typeface="Trebuchet MS"/>
                <a:cs typeface="Trebuchet MS"/>
              </a:rPr>
              <a:t>personalize</a:t>
            </a:r>
            <a:r>
              <a:rPr sz="1100" spc="-5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marketing strategies.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854695" y="3593591"/>
            <a:ext cx="802005" cy="802005"/>
            <a:chOff x="7854695" y="3593591"/>
            <a:chExt cx="802005" cy="802005"/>
          </a:xfrm>
        </p:grpSpPr>
        <p:sp>
          <p:nvSpPr>
            <p:cNvPr id="36" name="object 36"/>
            <p:cNvSpPr/>
            <p:nvPr/>
          </p:nvSpPr>
          <p:spPr>
            <a:xfrm>
              <a:off x="7854695" y="3593591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4" h="802004">
                  <a:moveTo>
                    <a:pt x="400811" y="0"/>
                  </a:moveTo>
                  <a:lnTo>
                    <a:pt x="354069" y="2696"/>
                  </a:lnTo>
                  <a:lnTo>
                    <a:pt x="308909" y="10585"/>
                  </a:lnTo>
                  <a:lnTo>
                    <a:pt x="265635" y="23366"/>
                  </a:lnTo>
                  <a:lnTo>
                    <a:pt x="224545" y="40739"/>
                  </a:lnTo>
                  <a:lnTo>
                    <a:pt x="185942" y="62401"/>
                  </a:lnTo>
                  <a:lnTo>
                    <a:pt x="150125" y="88054"/>
                  </a:lnTo>
                  <a:lnTo>
                    <a:pt x="117395" y="117395"/>
                  </a:lnTo>
                  <a:lnTo>
                    <a:pt x="88054" y="150125"/>
                  </a:lnTo>
                  <a:lnTo>
                    <a:pt x="62401" y="185942"/>
                  </a:lnTo>
                  <a:lnTo>
                    <a:pt x="40739" y="224545"/>
                  </a:lnTo>
                  <a:lnTo>
                    <a:pt x="23366" y="265635"/>
                  </a:lnTo>
                  <a:lnTo>
                    <a:pt x="10585" y="308909"/>
                  </a:lnTo>
                  <a:lnTo>
                    <a:pt x="2696" y="354069"/>
                  </a:lnTo>
                  <a:lnTo>
                    <a:pt x="0" y="400812"/>
                  </a:lnTo>
                  <a:lnTo>
                    <a:pt x="2696" y="447554"/>
                  </a:lnTo>
                  <a:lnTo>
                    <a:pt x="10585" y="492714"/>
                  </a:lnTo>
                  <a:lnTo>
                    <a:pt x="23366" y="535988"/>
                  </a:lnTo>
                  <a:lnTo>
                    <a:pt x="40739" y="577078"/>
                  </a:lnTo>
                  <a:lnTo>
                    <a:pt x="62401" y="615681"/>
                  </a:lnTo>
                  <a:lnTo>
                    <a:pt x="88054" y="651498"/>
                  </a:lnTo>
                  <a:lnTo>
                    <a:pt x="117395" y="684228"/>
                  </a:lnTo>
                  <a:lnTo>
                    <a:pt x="150125" y="713569"/>
                  </a:lnTo>
                  <a:lnTo>
                    <a:pt x="185942" y="739222"/>
                  </a:lnTo>
                  <a:lnTo>
                    <a:pt x="224545" y="760884"/>
                  </a:lnTo>
                  <a:lnTo>
                    <a:pt x="265635" y="778257"/>
                  </a:lnTo>
                  <a:lnTo>
                    <a:pt x="308909" y="791038"/>
                  </a:lnTo>
                  <a:lnTo>
                    <a:pt x="354069" y="798927"/>
                  </a:lnTo>
                  <a:lnTo>
                    <a:pt x="400811" y="801624"/>
                  </a:lnTo>
                  <a:lnTo>
                    <a:pt x="447554" y="798927"/>
                  </a:lnTo>
                  <a:lnTo>
                    <a:pt x="492714" y="791038"/>
                  </a:lnTo>
                  <a:lnTo>
                    <a:pt x="535988" y="778257"/>
                  </a:lnTo>
                  <a:lnTo>
                    <a:pt x="577078" y="760884"/>
                  </a:lnTo>
                  <a:lnTo>
                    <a:pt x="615681" y="739222"/>
                  </a:lnTo>
                  <a:lnTo>
                    <a:pt x="651498" y="713569"/>
                  </a:lnTo>
                  <a:lnTo>
                    <a:pt x="684228" y="684228"/>
                  </a:lnTo>
                  <a:lnTo>
                    <a:pt x="713569" y="651498"/>
                  </a:lnTo>
                  <a:lnTo>
                    <a:pt x="739222" y="615681"/>
                  </a:lnTo>
                  <a:lnTo>
                    <a:pt x="760884" y="577078"/>
                  </a:lnTo>
                  <a:lnTo>
                    <a:pt x="778257" y="535988"/>
                  </a:lnTo>
                  <a:lnTo>
                    <a:pt x="791038" y="492714"/>
                  </a:lnTo>
                  <a:lnTo>
                    <a:pt x="798927" y="447554"/>
                  </a:lnTo>
                  <a:lnTo>
                    <a:pt x="801624" y="400812"/>
                  </a:lnTo>
                  <a:lnTo>
                    <a:pt x="798927" y="354069"/>
                  </a:lnTo>
                  <a:lnTo>
                    <a:pt x="791038" y="308909"/>
                  </a:lnTo>
                  <a:lnTo>
                    <a:pt x="778257" y="265635"/>
                  </a:lnTo>
                  <a:lnTo>
                    <a:pt x="760884" y="224545"/>
                  </a:lnTo>
                  <a:lnTo>
                    <a:pt x="739222" y="185942"/>
                  </a:lnTo>
                  <a:lnTo>
                    <a:pt x="713569" y="150125"/>
                  </a:lnTo>
                  <a:lnTo>
                    <a:pt x="684228" y="117395"/>
                  </a:lnTo>
                  <a:lnTo>
                    <a:pt x="651498" y="88054"/>
                  </a:lnTo>
                  <a:lnTo>
                    <a:pt x="615681" y="62401"/>
                  </a:lnTo>
                  <a:lnTo>
                    <a:pt x="577078" y="40739"/>
                  </a:lnTo>
                  <a:lnTo>
                    <a:pt x="535988" y="23366"/>
                  </a:lnTo>
                  <a:lnTo>
                    <a:pt x="492714" y="10585"/>
                  </a:lnTo>
                  <a:lnTo>
                    <a:pt x="447554" y="2696"/>
                  </a:lnTo>
                  <a:lnTo>
                    <a:pt x="400811" y="0"/>
                  </a:lnTo>
                  <a:close/>
                </a:path>
              </a:pathLst>
            </a:custGeom>
            <a:solidFill>
              <a:srgbClr val="539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 descr="Gaug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3671" y="3785615"/>
              <a:ext cx="42672" cy="48768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09711" y="3792981"/>
              <a:ext cx="274828" cy="66040"/>
            </a:xfrm>
            <a:prstGeom prst="rect">
              <a:avLst/>
            </a:prstGeom>
          </p:spPr>
        </p:pic>
      </p:grpSp>
      <p:sp>
        <p:nvSpPr>
          <p:cNvPr id="39" name="object 39"/>
          <p:cNvSpPr/>
          <p:nvPr/>
        </p:nvSpPr>
        <p:spPr>
          <a:xfrm>
            <a:off x="8023859" y="3765803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248" y="0"/>
                </a:lnTo>
              </a:path>
              <a:path w="460375" h="460375">
                <a:moveTo>
                  <a:pt x="0" y="0"/>
                </a:moveTo>
                <a:lnTo>
                  <a:pt x="0" y="460248"/>
                </a:lnTo>
              </a:path>
              <a:path w="460375" h="460375">
                <a:moveTo>
                  <a:pt x="0" y="460248"/>
                </a:moveTo>
                <a:lnTo>
                  <a:pt x="460248" y="460248"/>
                </a:lnTo>
              </a:path>
              <a:path w="460375" h="460375">
                <a:moveTo>
                  <a:pt x="460248" y="460248"/>
                </a:moveTo>
                <a:lnTo>
                  <a:pt x="46024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8816085" y="3672585"/>
            <a:ext cx="1873250" cy="63627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ct val="87900"/>
              </a:lnSpc>
              <a:spcBef>
                <a:spcPts val="260"/>
              </a:spcBef>
            </a:pPr>
            <a:r>
              <a:rPr sz="1100" dirty="0">
                <a:latin typeface="Segoe UI Symbol"/>
                <a:cs typeface="Segoe UI Symbol"/>
              </a:rPr>
              <a:t>✔</a:t>
            </a:r>
            <a:r>
              <a:rPr sz="1100" spc="30" dirty="0">
                <a:latin typeface="Segoe UI Symbol"/>
                <a:cs typeface="Segoe UI Symbol"/>
              </a:rPr>
              <a:t> </a:t>
            </a:r>
            <a:r>
              <a:rPr sz="1100" dirty="0">
                <a:latin typeface="Trebuchet MS"/>
                <a:cs typeface="Trebuchet MS"/>
              </a:rPr>
              <a:t>Monitor</a:t>
            </a:r>
            <a:r>
              <a:rPr sz="1100" spc="-45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sales</a:t>
            </a:r>
            <a:r>
              <a:rPr sz="1100" spc="-1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performance </a:t>
            </a:r>
            <a:r>
              <a:rPr sz="1100" dirty="0">
                <a:latin typeface="Trebuchet MS"/>
                <a:cs typeface="Trebuchet MS"/>
              </a:rPr>
              <a:t>using</a:t>
            </a:r>
            <a:r>
              <a:rPr sz="1100" spc="-5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the</a:t>
            </a:r>
            <a:r>
              <a:rPr sz="1100" spc="-10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Power</a:t>
            </a:r>
            <a:r>
              <a:rPr sz="1100" spc="-50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BI </a:t>
            </a:r>
            <a:r>
              <a:rPr sz="1100" spc="-10" dirty="0">
                <a:latin typeface="Trebuchet MS"/>
                <a:cs typeface="Trebuchet MS"/>
              </a:rPr>
              <a:t>dashboard </a:t>
            </a:r>
            <a:r>
              <a:rPr sz="1100" dirty="0">
                <a:latin typeface="Trebuchet MS"/>
                <a:cs typeface="Trebuchet MS"/>
              </a:rPr>
              <a:t>to support</a:t>
            </a:r>
            <a:r>
              <a:rPr sz="1100" spc="-55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timely,</a:t>
            </a:r>
            <a:r>
              <a:rPr sz="1100" spc="-2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data-</a:t>
            </a:r>
            <a:r>
              <a:rPr sz="1100" dirty="0">
                <a:latin typeface="Trebuchet MS"/>
                <a:cs typeface="Trebuchet MS"/>
              </a:rPr>
              <a:t>driven</a:t>
            </a:r>
            <a:r>
              <a:rPr sz="1100" spc="-35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business</a:t>
            </a:r>
            <a:r>
              <a:rPr sz="1100" spc="-4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decisions.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478280" y="5090159"/>
            <a:ext cx="802005" cy="802005"/>
            <a:chOff x="1478280" y="5090159"/>
            <a:chExt cx="802005" cy="802005"/>
          </a:xfrm>
        </p:grpSpPr>
        <p:sp>
          <p:nvSpPr>
            <p:cNvPr id="42" name="object 42"/>
            <p:cNvSpPr/>
            <p:nvPr/>
          </p:nvSpPr>
          <p:spPr>
            <a:xfrm>
              <a:off x="1478280" y="5090159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4">
                  <a:moveTo>
                    <a:pt x="400812" y="0"/>
                  </a:moveTo>
                  <a:lnTo>
                    <a:pt x="354069" y="2696"/>
                  </a:lnTo>
                  <a:lnTo>
                    <a:pt x="308909" y="10585"/>
                  </a:lnTo>
                  <a:lnTo>
                    <a:pt x="265635" y="23366"/>
                  </a:lnTo>
                  <a:lnTo>
                    <a:pt x="224545" y="40739"/>
                  </a:lnTo>
                  <a:lnTo>
                    <a:pt x="185942" y="62401"/>
                  </a:lnTo>
                  <a:lnTo>
                    <a:pt x="150125" y="88054"/>
                  </a:lnTo>
                  <a:lnTo>
                    <a:pt x="117395" y="117395"/>
                  </a:lnTo>
                  <a:lnTo>
                    <a:pt x="88054" y="150125"/>
                  </a:lnTo>
                  <a:lnTo>
                    <a:pt x="62401" y="185942"/>
                  </a:lnTo>
                  <a:lnTo>
                    <a:pt x="40739" y="224545"/>
                  </a:lnTo>
                  <a:lnTo>
                    <a:pt x="23366" y="265635"/>
                  </a:lnTo>
                  <a:lnTo>
                    <a:pt x="10585" y="308909"/>
                  </a:lnTo>
                  <a:lnTo>
                    <a:pt x="2696" y="354069"/>
                  </a:lnTo>
                  <a:lnTo>
                    <a:pt x="0" y="400811"/>
                  </a:lnTo>
                  <a:lnTo>
                    <a:pt x="2696" y="447554"/>
                  </a:lnTo>
                  <a:lnTo>
                    <a:pt x="10585" y="492714"/>
                  </a:lnTo>
                  <a:lnTo>
                    <a:pt x="23366" y="535988"/>
                  </a:lnTo>
                  <a:lnTo>
                    <a:pt x="40739" y="577078"/>
                  </a:lnTo>
                  <a:lnTo>
                    <a:pt x="62401" y="615681"/>
                  </a:lnTo>
                  <a:lnTo>
                    <a:pt x="88054" y="651498"/>
                  </a:lnTo>
                  <a:lnTo>
                    <a:pt x="117395" y="684228"/>
                  </a:lnTo>
                  <a:lnTo>
                    <a:pt x="150125" y="713569"/>
                  </a:lnTo>
                  <a:lnTo>
                    <a:pt x="185942" y="739222"/>
                  </a:lnTo>
                  <a:lnTo>
                    <a:pt x="224545" y="760884"/>
                  </a:lnTo>
                  <a:lnTo>
                    <a:pt x="265635" y="778257"/>
                  </a:lnTo>
                  <a:lnTo>
                    <a:pt x="308909" y="791038"/>
                  </a:lnTo>
                  <a:lnTo>
                    <a:pt x="354069" y="798927"/>
                  </a:lnTo>
                  <a:lnTo>
                    <a:pt x="400812" y="801623"/>
                  </a:lnTo>
                  <a:lnTo>
                    <a:pt x="447554" y="798927"/>
                  </a:lnTo>
                  <a:lnTo>
                    <a:pt x="492714" y="791038"/>
                  </a:lnTo>
                  <a:lnTo>
                    <a:pt x="535988" y="778257"/>
                  </a:lnTo>
                  <a:lnTo>
                    <a:pt x="577078" y="760884"/>
                  </a:lnTo>
                  <a:lnTo>
                    <a:pt x="615681" y="739222"/>
                  </a:lnTo>
                  <a:lnTo>
                    <a:pt x="651498" y="713569"/>
                  </a:lnTo>
                  <a:lnTo>
                    <a:pt x="684228" y="684228"/>
                  </a:lnTo>
                  <a:lnTo>
                    <a:pt x="713569" y="651498"/>
                  </a:lnTo>
                  <a:lnTo>
                    <a:pt x="739222" y="615681"/>
                  </a:lnTo>
                  <a:lnTo>
                    <a:pt x="760884" y="577078"/>
                  </a:lnTo>
                  <a:lnTo>
                    <a:pt x="778257" y="535988"/>
                  </a:lnTo>
                  <a:lnTo>
                    <a:pt x="791038" y="492714"/>
                  </a:lnTo>
                  <a:lnTo>
                    <a:pt x="798927" y="447554"/>
                  </a:lnTo>
                  <a:lnTo>
                    <a:pt x="801624" y="400811"/>
                  </a:lnTo>
                  <a:lnTo>
                    <a:pt x="798927" y="354069"/>
                  </a:lnTo>
                  <a:lnTo>
                    <a:pt x="791038" y="308909"/>
                  </a:lnTo>
                  <a:lnTo>
                    <a:pt x="778257" y="265635"/>
                  </a:lnTo>
                  <a:lnTo>
                    <a:pt x="760884" y="224545"/>
                  </a:lnTo>
                  <a:lnTo>
                    <a:pt x="739222" y="185942"/>
                  </a:lnTo>
                  <a:lnTo>
                    <a:pt x="713569" y="150125"/>
                  </a:lnTo>
                  <a:lnTo>
                    <a:pt x="684228" y="117395"/>
                  </a:lnTo>
                  <a:lnTo>
                    <a:pt x="651498" y="88054"/>
                  </a:lnTo>
                  <a:lnTo>
                    <a:pt x="615681" y="62401"/>
                  </a:lnTo>
                  <a:lnTo>
                    <a:pt x="577078" y="40739"/>
                  </a:lnTo>
                  <a:lnTo>
                    <a:pt x="535988" y="23366"/>
                  </a:lnTo>
                  <a:lnTo>
                    <a:pt x="492714" y="10585"/>
                  </a:lnTo>
                  <a:lnTo>
                    <a:pt x="447554" y="2696"/>
                  </a:lnTo>
                  <a:lnTo>
                    <a:pt x="400812" y="0"/>
                  </a:lnTo>
                  <a:close/>
                </a:path>
              </a:pathLst>
            </a:custGeom>
            <a:solidFill>
              <a:srgbClr val="E6B8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 descr="Kiosk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7256" y="5282183"/>
              <a:ext cx="42672" cy="4876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33296" y="5289549"/>
              <a:ext cx="274828" cy="66040"/>
            </a:xfrm>
            <a:prstGeom prst="rect">
              <a:avLst/>
            </a:prstGeom>
          </p:spPr>
        </p:pic>
      </p:grpSp>
      <p:sp>
        <p:nvSpPr>
          <p:cNvPr id="45" name="object 45"/>
          <p:cNvSpPr/>
          <p:nvPr/>
        </p:nvSpPr>
        <p:spPr>
          <a:xfrm>
            <a:off x="1647444" y="5262371"/>
            <a:ext cx="463550" cy="460375"/>
          </a:xfrm>
          <a:custGeom>
            <a:avLst/>
            <a:gdLst/>
            <a:ahLst/>
            <a:cxnLst/>
            <a:rect l="l" t="t" r="r" b="b"/>
            <a:pathLst>
              <a:path w="463550" h="460375">
                <a:moveTo>
                  <a:pt x="0" y="0"/>
                </a:moveTo>
                <a:lnTo>
                  <a:pt x="463295" y="0"/>
                </a:lnTo>
              </a:path>
              <a:path w="463550" h="460375">
                <a:moveTo>
                  <a:pt x="0" y="0"/>
                </a:moveTo>
                <a:lnTo>
                  <a:pt x="0" y="460247"/>
                </a:lnTo>
              </a:path>
              <a:path w="463550" h="460375">
                <a:moveTo>
                  <a:pt x="0" y="460247"/>
                </a:moveTo>
                <a:lnTo>
                  <a:pt x="463295" y="460247"/>
                </a:lnTo>
              </a:path>
              <a:path w="463550" h="460375">
                <a:moveTo>
                  <a:pt x="463295" y="460247"/>
                </a:moveTo>
                <a:lnTo>
                  <a:pt x="46329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2438526" y="5169789"/>
            <a:ext cx="1911350" cy="63563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ct val="87900"/>
              </a:lnSpc>
              <a:spcBef>
                <a:spcPts val="260"/>
              </a:spcBef>
            </a:pPr>
            <a:r>
              <a:rPr sz="1100" dirty="0">
                <a:latin typeface="Segoe UI Symbol"/>
                <a:cs typeface="Segoe UI Symbol"/>
              </a:rPr>
              <a:t>✔</a:t>
            </a:r>
            <a:r>
              <a:rPr sz="1100" spc="25" dirty="0">
                <a:latin typeface="Segoe UI Symbol"/>
                <a:cs typeface="Segoe UI Symbol"/>
              </a:rPr>
              <a:t> </a:t>
            </a:r>
            <a:r>
              <a:rPr sz="1100" dirty="0">
                <a:latin typeface="Trebuchet MS"/>
                <a:cs typeface="Trebuchet MS"/>
              </a:rPr>
              <a:t>Use</a:t>
            </a:r>
            <a:r>
              <a:rPr sz="1100" spc="-30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sales</a:t>
            </a:r>
            <a:r>
              <a:rPr sz="1100" spc="-50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trends</a:t>
            </a:r>
            <a:r>
              <a:rPr sz="1100" spc="-20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to</a:t>
            </a:r>
            <a:r>
              <a:rPr sz="1100" spc="-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improve </a:t>
            </a:r>
            <a:r>
              <a:rPr sz="1100" dirty="0">
                <a:latin typeface="Trebuchet MS"/>
                <a:cs typeface="Trebuchet MS"/>
              </a:rPr>
              <a:t>inventory</a:t>
            </a:r>
            <a:r>
              <a:rPr sz="1100" spc="-35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planning,</a:t>
            </a:r>
            <a:r>
              <a:rPr sz="1100" spc="-4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ensuring </a:t>
            </a:r>
            <a:r>
              <a:rPr sz="1100" dirty="0">
                <a:latin typeface="Trebuchet MS"/>
                <a:cs typeface="Trebuchet MS"/>
              </a:rPr>
              <a:t>that</a:t>
            </a:r>
            <a:r>
              <a:rPr sz="1100" spc="-1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high-</a:t>
            </a:r>
            <a:r>
              <a:rPr sz="1100" dirty="0">
                <a:latin typeface="Trebuchet MS"/>
                <a:cs typeface="Trebuchet MS"/>
              </a:rPr>
              <a:t>demand</a:t>
            </a:r>
            <a:r>
              <a:rPr sz="1100" spc="-2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products </a:t>
            </a:r>
            <a:r>
              <a:rPr sz="1100" dirty="0">
                <a:latin typeface="Trebuchet MS"/>
                <a:cs typeface="Trebuchet MS"/>
              </a:rPr>
              <a:t>are</a:t>
            </a:r>
            <a:r>
              <a:rPr sz="1100" spc="-10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always</a:t>
            </a:r>
            <a:r>
              <a:rPr sz="1100" spc="-4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available.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30551" y="-3047"/>
            <a:ext cx="10061575" cy="6868159"/>
            <a:chOff x="2130551" y="-3047"/>
            <a:chExt cx="10061575" cy="6868159"/>
          </a:xfrm>
        </p:grpSpPr>
        <p:sp>
          <p:nvSpPr>
            <p:cNvPr id="3" name="object 3"/>
            <p:cNvSpPr/>
            <p:nvPr/>
          </p:nvSpPr>
          <p:spPr>
            <a:xfrm>
              <a:off x="3954779" y="1524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ln w="9144">
              <a:solidFill>
                <a:srgbClr val="6C91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135123" y="3683507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ln w="914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25367" y="0"/>
              <a:ext cx="3005455" cy="6858000"/>
            </a:xfrm>
            <a:custGeom>
              <a:avLst/>
              <a:gdLst/>
              <a:ahLst/>
              <a:cxnLst/>
              <a:rect l="l" t="t" r="r" b="b"/>
              <a:pathLst>
                <a:path w="3005454" h="6858000">
                  <a:moveTo>
                    <a:pt x="3005328" y="0"/>
                  </a:moveTo>
                  <a:lnTo>
                    <a:pt x="2041470" y="0"/>
                  </a:lnTo>
                  <a:lnTo>
                    <a:pt x="0" y="6858000"/>
                  </a:lnTo>
                  <a:lnTo>
                    <a:pt x="3005328" y="6858000"/>
                  </a:lnTo>
                  <a:lnTo>
                    <a:pt x="3005328" y="0"/>
                  </a:lnTo>
                  <a:close/>
                </a:path>
              </a:pathLst>
            </a:custGeom>
            <a:solidFill>
              <a:srgbClr val="90C225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47601" y="0"/>
              <a:ext cx="2586355" cy="6858000"/>
            </a:xfrm>
            <a:custGeom>
              <a:avLst/>
              <a:gdLst/>
              <a:ahLst/>
              <a:cxnLst/>
              <a:rect l="l" t="t" r="r" b="b"/>
              <a:pathLst>
                <a:path w="2586354" h="6858000">
                  <a:moveTo>
                    <a:pt x="2586142" y="0"/>
                  </a:moveTo>
                  <a:lnTo>
                    <a:pt x="0" y="0"/>
                  </a:lnTo>
                  <a:lnTo>
                    <a:pt x="1207430" y="6858000"/>
                  </a:lnTo>
                  <a:lnTo>
                    <a:pt x="2586142" y="6858000"/>
                  </a:lnTo>
                  <a:lnTo>
                    <a:pt x="2586142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5431" y="3048000"/>
              <a:ext cx="3258820" cy="3810000"/>
            </a:xfrm>
            <a:custGeom>
              <a:avLst/>
              <a:gdLst/>
              <a:ahLst/>
              <a:cxnLst/>
              <a:rect l="l" t="t" r="r" b="b"/>
              <a:pathLst>
                <a:path w="3258820" h="3810000">
                  <a:moveTo>
                    <a:pt x="3258312" y="0"/>
                  </a:moveTo>
                  <a:lnTo>
                    <a:pt x="0" y="3809999"/>
                  </a:lnTo>
                  <a:lnTo>
                    <a:pt x="3258312" y="3809999"/>
                  </a:lnTo>
                  <a:lnTo>
                    <a:pt x="3258312" y="0"/>
                  </a:lnTo>
                  <a:close/>
                </a:path>
              </a:pathLst>
            </a:custGeom>
            <a:solidFill>
              <a:srgbClr val="539F20">
                <a:alpha val="7215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81056" y="0"/>
              <a:ext cx="2849880" cy="6858000"/>
            </a:xfrm>
            <a:custGeom>
              <a:avLst/>
              <a:gdLst/>
              <a:ahLst/>
              <a:cxnLst/>
              <a:rect l="l" t="t" r="r" b="b"/>
              <a:pathLst>
                <a:path w="2849879" h="6858000">
                  <a:moveTo>
                    <a:pt x="2849639" y="0"/>
                  </a:moveTo>
                  <a:lnTo>
                    <a:pt x="0" y="0"/>
                  </a:lnTo>
                  <a:lnTo>
                    <a:pt x="2466226" y="6858000"/>
                  </a:lnTo>
                  <a:lnTo>
                    <a:pt x="2849639" y="6858000"/>
                  </a:lnTo>
                  <a:lnTo>
                    <a:pt x="2849639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14087" y="3590543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5" h="3267709">
                  <a:moveTo>
                    <a:pt x="1816608" y="0"/>
                  </a:moveTo>
                  <a:lnTo>
                    <a:pt x="0" y="3267455"/>
                  </a:lnTo>
                  <a:lnTo>
                    <a:pt x="1816608" y="3267455"/>
                  </a:lnTo>
                  <a:lnTo>
                    <a:pt x="1816608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082493" y="0"/>
              <a:ext cx="7110095" cy="6858000"/>
            </a:xfrm>
            <a:custGeom>
              <a:avLst/>
              <a:gdLst/>
              <a:ahLst/>
              <a:cxnLst/>
              <a:rect l="l" t="t" r="r" b="b"/>
              <a:pathLst>
                <a:path w="7110095" h="6858000">
                  <a:moveTo>
                    <a:pt x="7109506" y="0"/>
                  </a:moveTo>
                  <a:lnTo>
                    <a:pt x="0" y="0"/>
                  </a:lnTo>
                  <a:lnTo>
                    <a:pt x="1108121" y="6858000"/>
                  </a:lnTo>
                  <a:lnTo>
                    <a:pt x="7109506" y="6858000"/>
                  </a:lnTo>
                  <a:lnTo>
                    <a:pt x="7109506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56310" y="2625039"/>
            <a:ext cx="22142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Conclusion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038" rIns="0" bIns="0" rtlCol="0">
            <a:spAutoFit/>
          </a:bodyPr>
          <a:lstStyle/>
          <a:p>
            <a:pPr marL="5452110" marR="5080" indent="133985">
              <a:lnSpc>
                <a:spcPct val="90000"/>
              </a:lnSpc>
              <a:spcBef>
                <a:spcPts val="290"/>
              </a:spcBef>
            </a:pPr>
            <a:r>
              <a:rPr dirty="0"/>
              <a:t>Successfully</a:t>
            </a:r>
            <a:r>
              <a:rPr spc="-85" dirty="0"/>
              <a:t> </a:t>
            </a:r>
            <a:r>
              <a:rPr dirty="0"/>
              <a:t>cleaned</a:t>
            </a:r>
            <a:r>
              <a:rPr spc="-4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preprocessed</a:t>
            </a:r>
            <a:r>
              <a:rPr spc="-65" dirty="0"/>
              <a:t> </a:t>
            </a:r>
            <a:r>
              <a:rPr spc="-25" dirty="0"/>
              <a:t>the </a:t>
            </a:r>
            <a:r>
              <a:rPr spc="-10" dirty="0"/>
              <a:t>ApexPlanet_DataAnalytics_Dataset-</a:t>
            </a:r>
            <a:r>
              <a:rPr dirty="0"/>
              <a:t>1</a:t>
            </a:r>
            <a:r>
              <a:rPr spc="-3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ensure</a:t>
            </a:r>
            <a:r>
              <a:rPr spc="40" dirty="0"/>
              <a:t> </a:t>
            </a:r>
            <a:r>
              <a:rPr dirty="0"/>
              <a:t>data</a:t>
            </a:r>
            <a:r>
              <a:rPr spc="45" dirty="0"/>
              <a:t> </a:t>
            </a:r>
            <a:r>
              <a:rPr spc="-10" dirty="0"/>
              <a:t>quality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consistency.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182245" indent="133985">
              <a:lnSpc>
                <a:spcPct val="90000"/>
              </a:lnSpc>
              <a:spcBef>
                <a:spcPts val="290"/>
              </a:spcBef>
            </a:pPr>
            <a:r>
              <a:rPr spc="-10" dirty="0"/>
              <a:t>Performed</a:t>
            </a:r>
            <a:r>
              <a:rPr spc="-15" dirty="0"/>
              <a:t> </a:t>
            </a:r>
            <a:r>
              <a:rPr dirty="0"/>
              <a:t>Exploratory</a:t>
            </a:r>
            <a:r>
              <a:rPr spc="-80" dirty="0"/>
              <a:t> </a:t>
            </a:r>
            <a:r>
              <a:rPr dirty="0"/>
              <a:t>Data</a:t>
            </a:r>
            <a:r>
              <a:rPr spc="-105" dirty="0"/>
              <a:t> </a:t>
            </a:r>
            <a:r>
              <a:rPr dirty="0"/>
              <a:t>Analysis</a:t>
            </a:r>
            <a:r>
              <a:rPr spc="-70" dirty="0"/>
              <a:t> </a:t>
            </a:r>
            <a:r>
              <a:rPr dirty="0"/>
              <a:t>(EDA)</a:t>
            </a:r>
            <a:r>
              <a:rPr spc="-45" dirty="0"/>
              <a:t> </a:t>
            </a:r>
            <a:r>
              <a:rPr dirty="0"/>
              <a:t>using</a:t>
            </a:r>
            <a:r>
              <a:rPr spc="-25" dirty="0"/>
              <a:t> </a:t>
            </a:r>
            <a:r>
              <a:rPr dirty="0"/>
              <a:t>Python</a:t>
            </a:r>
            <a:r>
              <a:rPr spc="-40" dirty="0"/>
              <a:t> </a:t>
            </a:r>
            <a:r>
              <a:rPr spc="-25" dirty="0"/>
              <a:t>to </a:t>
            </a:r>
            <a:r>
              <a:rPr dirty="0"/>
              <a:t>identify</a:t>
            </a:r>
            <a:r>
              <a:rPr spc="-45" dirty="0"/>
              <a:t> </a:t>
            </a:r>
            <a:r>
              <a:rPr dirty="0"/>
              <a:t>sales</a:t>
            </a:r>
            <a:r>
              <a:rPr spc="-50" dirty="0"/>
              <a:t> </a:t>
            </a:r>
            <a:r>
              <a:rPr dirty="0"/>
              <a:t>patterns,</a:t>
            </a:r>
            <a:r>
              <a:rPr spc="-45" dirty="0"/>
              <a:t> </a:t>
            </a:r>
            <a:r>
              <a:rPr dirty="0"/>
              <a:t>customer</a:t>
            </a:r>
            <a:r>
              <a:rPr spc="-50" dirty="0"/>
              <a:t> </a:t>
            </a:r>
            <a:r>
              <a:rPr spc="-25" dirty="0"/>
              <a:t>behavior,</a:t>
            </a:r>
            <a:r>
              <a:rPr spc="-4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product performance.</a:t>
            </a:r>
          </a:p>
          <a:p>
            <a:pPr marL="12700" marR="119380" indent="133985" algn="just">
              <a:lnSpc>
                <a:spcPct val="90000"/>
              </a:lnSpc>
              <a:spcBef>
                <a:spcPts val="1000"/>
              </a:spcBef>
            </a:pPr>
            <a:r>
              <a:rPr dirty="0"/>
              <a:t>Used</a:t>
            </a:r>
            <a:r>
              <a:rPr spc="-40" dirty="0"/>
              <a:t> </a:t>
            </a:r>
            <a:r>
              <a:rPr dirty="0"/>
              <a:t>SQL</a:t>
            </a:r>
            <a:r>
              <a:rPr spc="-10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answer</a:t>
            </a:r>
            <a:r>
              <a:rPr spc="-45" dirty="0"/>
              <a:t> </a:t>
            </a:r>
            <a:r>
              <a:rPr dirty="0"/>
              <a:t>key</a:t>
            </a:r>
            <a:r>
              <a:rPr spc="-15" dirty="0"/>
              <a:t> </a:t>
            </a:r>
            <a:r>
              <a:rPr dirty="0"/>
              <a:t>business</a:t>
            </a:r>
            <a:r>
              <a:rPr spc="-45" dirty="0"/>
              <a:t> </a:t>
            </a:r>
            <a:r>
              <a:rPr dirty="0"/>
              <a:t>questions,</a:t>
            </a:r>
            <a:r>
              <a:rPr spc="-60" dirty="0"/>
              <a:t> </a:t>
            </a:r>
            <a:r>
              <a:rPr dirty="0"/>
              <a:t>including</a:t>
            </a:r>
            <a:r>
              <a:rPr spc="-25" dirty="0"/>
              <a:t> </a:t>
            </a:r>
            <a:r>
              <a:rPr spc="-10" dirty="0"/>
              <a:t>total </a:t>
            </a:r>
            <a:r>
              <a:rPr dirty="0"/>
              <a:t>sales,</a:t>
            </a:r>
            <a:r>
              <a:rPr spc="-40" dirty="0"/>
              <a:t> </a:t>
            </a:r>
            <a:r>
              <a:rPr dirty="0"/>
              <a:t>average</a:t>
            </a:r>
            <a:r>
              <a:rPr spc="-45" dirty="0"/>
              <a:t> </a:t>
            </a:r>
            <a:r>
              <a:rPr dirty="0"/>
              <a:t>sales,</a:t>
            </a:r>
            <a:r>
              <a:rPr spc="-40" dirty="0"/>
              <a:t> </a:t>
            </a:r>
            <a:r>
              <a:rPr dirty="0"/>
              <a:t>top-selling</a:t>
            </a:r>
            <a:r>
              <a:rPr spc="-55" dirty="0"/>
              <a:t> </a:t>
            </a:r>
            <a:r>
              <a:rPr dirty="0"/>
              <a:t>products,</a:t>
            </a:r>
            <a:r>
              <a:rPr spc="-10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spc="-10" dirty="0"/>
              <a:t>category-</a:t>
            </a:r>
            <a:r>
              <a:rPr spc="-20" dirty="0"/>
              <a:t>wise </a:t>
            </a:r>
            <a:r>
              <a:rPr spc="-10" dirty="0"/>
              <a:t>sales.</a:t>
            </a:r>
          </a:p>
          <a:p>
            <a:pPr marL="146685" algn="just">
              <a:lnSpc>
                <a:spcPts val="1705"/>
              </a:lnSpc>
              <a:spcBef>
                <a:spcPts val="840"/>
              </a:spcBef>
            </a:pPr>
            <a:r>
              <a:rPr dirty="0"/>
              <a:t>Developed</a:t>
            </a:r>
            <a:r>
              <a:rPr spc="-85" dirty="0"/>
              <a:t> </a:t>
            </a:r>
            <a:r>
              <a:rPr dirty="0"/>
              <a:t>an</a:t>
            </a:r>
            <a:r>
              <a:rPr spc="-25" dirty="0"/>
              <a:t> </a:t>
            </a:r>
            <a:r>
              <a:rPr dirty="0"/>
              <a:t>interactive</a:t>
            </a:r>
            <a:r>
              <a:rPr spc="-45" dirty="0"/>
              <a:t> </a:t>
            </a:r>
            <a:r>
              <a:rPr dirty="0"/>
              <a:t>Power</a:t>
            </a:r>
            <a:r>
              <a:rPr spc="-50" dirty="0"/>
              <a:t> </a:t>
            </a:r>
            <a:r>
              <a:rPr dirty="0"/>
              <a:t>BI</a:t>
            </a:r>
            <a:r>
              <a:rPr spc="-50" dirty="0"/>
              <a:t> </a:t>
            </a:r>
            <a:r>
              <a:rPr dirty="0"/>
              <a:t>dashboard</a:t>
            </a:r>
            <a:r>
              <a:rPr spc="-4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10" dirty="0"/>
              <a:t>visualize</a:t>
            </a:r>
          </a:p>
          <a:p>
            <a:pPr marL="12700" algn="just">
              <a:lnSpc>
                <a:spcPts val="1705"/>
              </a:lnSpc>
            </a:pPr>
            <a:r>
              <a:rPr dirty="0"/>
              <a:t>KPIs,</a:t>
            </a:r>
            <a:r>
              <a:rPr spc="-60" dirty="0"/>
              <a:t> </a:t>
            </a:r>
            <a:r>
              <a:rPr dirty="0"/>
              <a:t>sales</a:t>
            </a:r>
            <a:r>
              <a:rPr spc="-50" dirty="0"/>
              <a:t> </a:t>
            </a:r>
            <a:r>
              <a:rPr dirty="0"/>
              <a:t>trends,</a:t>
            </a:r>
            <a:r>
              <a:rPr spc="-10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business</a:t>
            </a:r>
            <a:r>
              <a:rPr spc="-50" dirty="0"/>
              <a:t> </a:t>
            </a:r>
            <a:r>
              <a:rPr spc="-10" dirty="0"/>
              <a:t>performance.</a:t>
            </a:r>
          </a:p>
          <a:p>
            <a:pPr marL="12700" marR="5080" indent="133985" algn="just">
              <a:lnSpc>
                <a:spcPct val="90000"/>
              </a:lnSpc>
              <a:spcBef>
                <a:spcPts val="1000"/>
              </a:spcBef>
            </a:pPr>
            <a:r>
              <a:rPr dirty="0"/>
              <a:t>Generated</a:t>
            </a:r>
            <a:r>
              <a:rPr spc="-50" dirty="0"/>
              <a:t> </a:t>
            </a:r>
            <a:r>
              <a:rPr dirty="0"/>
              <a:t>valuable</a:t>
            </a:r>
            <a:r>
              <a:rPr spc="-75" dirty="0"/>
              <a:t> </a:t>
            </a:r>
            <a:r>
              <a:rPr dirty="0"/>
              <a:t>business</a:t>
            </a:r>
            <a:r>
              <a:rPr spc="-55" dirty="0"/>
              <a:t> </a:t>
            </a:r>
            <a:r>
              <a:rPr dirty="0"/>
              <a:t>insights,</a:t>
            </a:r>
            <a:r>
              <a:rPr spc="-70" dirty="0"/>
              <a:t> </a:t>
            </a:r>
            <a:r>
              <a:rPr dirty="0"/>
              <a:t>including</a:t>
            </a:r>
            <a:r>
              <a:rPr spc="-4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highest-</a:t>
            </a:r>
            <a:r>
              <a:rPr dirty="0"/>
              <a:t>performing</a:t>
            </a:r>
            <a:r>
              <a:rPr spc="-35" dirty="0"/>
              <a:t> </a:t>
            </a:r>
            <a:r>
              <a:rPr dirty="0"/>
              <a:t>product</a:t>
            </a:r>
            <a:r>
              <a:rPr spc="-25" dirty="0"/>
              <a:t> </a:t>
            </a:r>
            <a:r>
              <a:rPr dirty="0"/>
              <a:t>categories,</a:t>
            </a:r>
            <a:r>
              <a:rPr spc="-95" dirty="0"/>
              <a:t> </a:t>
            </a:r>
            <a:r>
              <a:rPr dirty="0"/>
              <a:t>top-selling</a:t>
            </a:r>
            <a:r>
              <a:rPr spc="-75" dirty="0"/>
              <a:t> </a:t>
            </a:r>
            <a:r>
              <a:rPr dirty="0"/>
              <a:t>products,</a:t>
            </a:r>
            <a:r>
              <a:rPr spc="-4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city-</a:t>
            </a:r>
            <a:r>
              <a:rPr dirty="0"/>
              <a:t>wise</a:t>
            </a:r>
            <a:r>
              <a:rPr spc="-30" dirty="0"/>
              <a:t> </a:t>
            </a:r>
            <a:r>
              <a:rPr dirty="0"/>
              <a:t>sales</a:t>
            </a:r>
            <a:r>
              <a:rPr spc="-10" dirty="0"/>
              <a:t> performance.</a:t>
            </a:r>
          </a:p>
          <a:p>
            <a:pPr marL="12700" marR="297180" indent="133985">
              <a:lnSpc>
                <a:spcPct val="90100"/>
              </a:lnSpc>
              <a:spcBef>
                <a:spcPts val="994"/>
              </a:spcBef>
            </a:pPr>
            <a:r>
              <a:rPr spc="-10" dirty="0"/>
              <a:t>Validated</a:t>
            </a:r>
            <a:r>
              <a:rPr spc="-6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findings</a:t>
            </a:r>
            <a:r>
              <a:rPr spc="-15" dirty="0"/>
              <a:t> </a:t>
            </a:r>
            <a:r>
              <a:rPr dirty="0"/>
              <a:t>using</a:t>
            </a:r>
            <a:r>
              <a:rPr spc="-25" dirty="0"/>
              <a:t> </a:t>
            </a:r>
            <a:r>
              <a:rPr spc="-10" dirty="0"/>
              <a:t>Pearson</a:t>
            </a:r>
            <a:r>
              <a:rPr spc="-35" dirty="0"/>
              <a:t> </a:t>
            </a:r>
            <a:r>
              <a:rPr spc="-10" dirty="0"/>
              <a:t>Correlation</a:t>
            </a:r>
            <a:r>
              <a:rPr spc="-155" dirty="0"/>
              <a:t> </a:t>
            </a:r>
            <a:r>
              <a:rPr spc="-10" dirty="0"/>
              <a:t>Analysis, </a:t>
            </a:r>
            <a:r>
              <a:rPr dirty="0"/>
              <a:t>confirming</a:t>
            </a:r>
            <a:r>
              <a:rPr spc="-2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statistically</a:t>
            </a:r>
            <a:r>
              <a:rPr spc="-95" dirty="0"/>
              <a:t> </a:t>
            </a:r>
            <a:r>
              <a:rPr dirty="0"/>
              <a:t>significant</a:t>
            </a:r>
            <a:r>
              <a:rPr spc="-45" dirty="0"/>
              <a:t> </a:t>
            </a:r>
            <a:r>
              <a:rPr dirty="0"/>
              <a:t>positive</a:t>
            </a:r>
            <a:r>
              <a:rPr spc="-75" dirty="0"/>
              <a:t> </a:t>
            </a:r>
            <a:r>
              <a:rPr spc="-10" dirty="0"/>
              <a:t>relationship </a:t>
            </a:r>
            <a:r>
              <a:rPr dirty="0"/>
              <a:t>between</a:t>
            </a:r>
            <a:r>
              <a:rPr spc="-45" dirty="0"/>
              <a:t> </a:t>
            </a:r>
            <a:r>
              <a:rPr dirty="0"/>
              <a:t>Quantity</a:t>
            </a:r>
            <a:r>
              <a:rPr spc="-35" dirty="0"/>
              <a:t> </a:t>
            </a:r>
            <a:r>
              <a:rPr dirty="0"/>
              <a:t>Sold</a:t>
            </a:r>
            <a:r>
              <a:rPr spc="-65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30" dirty="0"/>
              <a:t>Total</a:t>
            </a:r>
            <a:r>
              <a:rPr spc="-55" dirty="0"/>
              <a:t> </a:t>
            </a:r>
            <a:r>
              <a:rPr spc="-10" dirty="0"/>
              <a:t>Sales.</a:t>
            </a:r>
          </a:p>
          <a:p>
            <a:pPr marL="12700" marR="278130" indent="133985">
              <a:lnSpc>
                <a:spcPct val="90100"/>
              </a:lnSpc>
              <a:spcBef>
                <a:spcPts val="1019"/>
              </a:spcBef>
            </a:pPr>
            <a:r>
              <a:rPr dirty="0"/>
              <a:t>Proposed</a:t>
            </a:r>
            <a:r>
              <a:rPr spc="-60" dirty="0"/>
              <a:t> </a:t>
            </a:r>
            <a:r>
              <a:rPr dirty="0"/>
              <a:t>practical</a:t>
            </a:r>
            <a:r>
              <a:rPr spc="-45" dirty="0"/>
              <a:t> </a:t>
            </a:r>
            <a:r>
              <a:rPr dirty="0"/>
              <a:t>business</a:t>
            </a:r>
            <a:r>
              <a:rPr spc="-15" dirty="0"/>
              <a:t> </a:t>
            </a:r>
            <a:r>
              <a:rPr spc="-10" dirty="0"/>
              <a:t>recommendations</a:t>
            </a:r>
            <a:r>
              <a:rPr spc="-4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spc="-10" dirty="0"/>
              <a:t>improve </a:t>
            </a:r>
            <a:r>
              <a:rPr dirty="0"/>
              <a:t>sales</a:t>
            </a:r>
            <a:r>
              <a:rPr spc="-75" dirty="0"/>
              <a:t> </a:t>
            </a:r>
            <a:r>
              <a:rPr dirty="0"/>
              <a:t>performance,</a:t>
            </a:r>
            <a:r>
              <a:rPr spc="-60" dirty="0"/>
              <a:t> </a:t>
            </a:r>
            <a:r>
              <a:rPr dirty="0"/>
              <a:t>inventory</a:t>
            </a:r>
            <a:r>
              <a:rPr spc="-35" dirty="0"/>
              <a:t> </a:t>
            </a:r>
            <a:r>
              <a:rPr dirty="0"/>
              <a:t>management,</a:t>
            </a:r>
            <a:r>
              <a:rPr spc="-6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decision-making.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174994" y="3582670"/>
            <a:ext cx="249936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dirty="0">
                <a:solidFill>
                  <a:srgbClr val="90C225"/>
                </a:solidFill>
                <a:latin typeface="Trebuchet MS"/>
                <a:cs typeface="Trebuchet MS"/>
              </a:rPr>
              <a:t>Thank</a:t>
            </a:r>
            <a:r>
              <a:rPr sz="4000" b="1" spc="-5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4000" b="1" spc="-25" dirty="0">
                <a:solidFill>
                  <a:srgbClr val="90C225"/>
                </a:solidFill>
                <a:latin typeface="Trebuchet MS"/>
                <a:cs typeface="Trebuchet MS"/>
              </a:rPr>
              <a:t>you</a:t>
            </a:r>
            <a:endParaRPr sz="4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1293</Words>
  <Application>Microsoft Office PowerPoint</Application>
  <PresentationFormat>Widescreen</PresentationFormat>
  <Paragraphs>191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Cambria Math</vt:lpstr>
      <vt:lpstr>Lucida Sans Unicode</vt:lpstr>
      <vt:lpstr>Segoe UI</vt:lpstr>
      <vt:lpstr>Segoe UI Symbol</vt:lpstr>
      <vt:lpstr>Trebuchet MS</vt:lpstr>
      <vt:lpstr>Wingdings</vt:lpstr>
      <vt:lpstr>Office Theme</vt:lpstr>
      <vt:lpstr>Sales Performance Analysis Using Python, SQL &amp; Power BI</vt:lpstr>
      <vt:lpstr>Business Problem &amp; Objectives</vt:lpstr>
      <vt:lpstr>Dataset Overview</vt:lpstr>
      <vt:lpstr>Data Cleaning &amp; Preprocessing</vt:lpstr>
      <vt:lpstr>Exploratory Data Analysis(EDA)</vt:lpstr>
      <vt:lpstr>PowerPoint Presentation</vt:lpstr>
      <vt:lpstr>1.Total Sales Query: SELECT SUM(Total_Sales) AS Total_Sales FROM ApexPlanet_DataAnalytics_Dataset;</vt:lpstr>
      <vt:lpstr>3.Top Selling Products Query: SELECT Product, SUM(Total_Sales) AS Total_Sales FROM ApexPlanet_DataAnalytics_Dataset GROUP BY Product ORDER BY Total_Sales</vt:lpstr>
      <vt:lpstr>Power BI Dashboard</vt:lpstr>
      <vt:lpstr>Business Insights</vt:lpstr>
      <vt:lpstr>Statistical Validation</vt:lpstr>
      <vt:lpstr>Business Recommendations</vt:lpstr>
      <vt:lpstr>Successfully cleaned and preprocessed the ApexPlanet_DataAnalytics_Dataset-1 to ensure data quality and consistency.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Bala Koti Yasaswi Batchu</cp:lastModifiedBy>
  <cp:revision>1</cp:revision>
  <dcterms:created xsi:type="dcterms:W3CDTF">2026-07-26T08:04:29Z</dcterms:created>
  <dcterms:modified xsi:type="dcterms:W3CDTF">2026-07-26T08:06:31Z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2026-07-26T00:00:00Z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2026-07-26T00:00:00Z</vt:filetime>
  </property>
  <property fmtid="{D5CDD505-2E9C-101B-9397-08002B2CF9AE}" pid="6" name="Producer">
    <vt:lpwstr>www.ilovepdf.com</vt:lpwstr>
  </property>
</Properties>
</file>